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80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82" r:id="rId11"/>
    <p:sldId id="281" r:id="rId12"/>
    <p:sldId id="266" r:id="rId13"/>
    <p:sldId id="267" r:id="rId14"/>
    <p:sldId id="268" r:id="rId15"/>
    <p:sldId id="269" r:id="rId16"/>
    <p:sldId id="270" r:id="rId17"/>
    <p:sldId id="271" r:id="rId18"/>
    <p:sldId id="283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3311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5AA79-7476-9816-3A97-B163892B9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30E341-42FE-1547-5933-5C723A9CB1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72680A-F54A-80AB-7047-E6BAD591AD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2606FB-3072-21E9-E135-818F7E06AD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735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88158-6427-A001-15CF-E49AA862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A95E50-D5E0-340F-4FCD-597A472A24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E69E4A-90D4-5FED-42B0-C0C5FBB23B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B3A33-78A2-53BF-855A-CAE85F7793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4926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77712-B520-2591-142A-5037F3CB1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C9FEE3-80C5-BABD-D3E3-498E89CFFA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3BD75D-1D01-B5AF-7D32-284948EE88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DF630-B5A1-8B8D-4142-EEA9AAF867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5485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0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0029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 rot="10800000">
            <a:off x="10698480" y="0"/>
            <a:ext cx="1493215" cy="1493215"/>
          </a:xfrm>
          <a:prstGeom prst="triangle">
            <a:avLst/>
          </a:prstGeom>
          <a:solidFill>
            <a:srgbClr val="D81B60"/>
          </a:solidFill>
          <a:ln w="12700">
            <a:solidFill>
              <a:srgbClr val="D81B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Aula 1 — Fundamentos de Segurança</a:t>
            </a:r>
            <a:endParaRPr lang="en-US" sz="4400" b="1" dirty="0">
              <a:solidFill>
                <a:srgbClr val="FFFFFF"/>
              </a:solidFill>
              <a:latin typeface="Aptos Display" panose="020B0004020202020204" pitchFamily="34" charset="0"/>
            </a:endParaRPr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&amp; Criptografia (Cifras Simples)</a:t>
            </a:r>
            <a:endParaRPr lang="en-US" sz="4400" b="1" dirty="0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básicos • Cifra de César • Substituição • XOR • Fragilidades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à Segurança Cibernética • 3h</a:t>
            </a:r>
            <a:endParaRPr lang="en-US" sz="1200" dirty="0"/>
          </a:p>
        </p:txBody>
      </p:sp>
      <p:sp>
        <p:nvSpPr>
          <p:cNvPr id="9" name="CEUB Integrated - title marker">
            <a:extLst>
              <a:ext uri="{FF2B5EF4-FFF2-40B4-BE49-F238E27FC236}">
                <a16:creationId xmlns:a16="http://schemas.microsoft.com/office/drawing/2014/main" id="{C75D442A-E2D7-4288-F3B9-580A97E96B29}"/>
              </a:ext>
            </a:extLst>
          </p:cNvPr>
          <p:cNvSpPr/>
          <p:nvPr/>
        </p:nvSpPr>
        <p:spPr>
          <a:xfrm>
            <a:off x="500380" y="2082800"/>
            <a:ext cx="57150" cy="431800"/>
          </a:xfrm>
          <a:prstGeom prst="rect">
            <a:avLst/>
          </a:prstGeom>
          <a:solidFill>
            <a:srgbClr val="EC008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EUB Integrated - top diagonal">
            <a:extLst>
              <a:ext uri="{FF2B5EF4-FFF2-40B4-BE49-F238E27FC236}">
                <a16:creationId xmlns:a16="http://schemas.microsoft.com/office/drawing/2014/main" id="{6507613C-1B17-DAAC-48F7-8AA438C30DCC}"/>
              </a:ext>
            </a:extLst>
          </p:cNvPr>
          <p:cNvCxnSpPr/>
          <p:nvPr/>
        </p:nvCxnSpPr>
        <p:spPr>
          <a:xfrm>
            <a:off x="9804400" y="0"/>
            <a:ext cx="46990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EUB Integrated - top horizontal">
            <a:extLst>
              <a:ext uri="{FF2B5EF4-FFF2-40B4-BE49-F238E27FC236}">
                <a16:creationId xmlns:a16="http://schemas.microsoft.com/office/drawing/2014/main" id="{E7003898-8194-CB1B-AC0A-E724CCD1D40A}"/>
              </a:ext>
            </a:extLst>
          </p:cNvPr>
          <p:cNvCxnSpPr/>
          <p:nvPr/>
        </p:nvCxnSpPr>
        <p:spPr>
          <a:xfrm>
            <a:off x="10274300" y="520700"/>
            <a:ext cx="1828800" cy="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EUB Integrated - top vertical">
            <a:extLst>
              <a:ext uri="{FF2B5EF4-FFF2-40B4-BE49-F238E27FC236}">
                <a16:creationId xmlns:a16="http://schemas.microsoft.com/office/drawing/2014/main" id="{6308682C-D4A4-3E18-621D-236C38C58D59}"/>
              </a:ext>
            </a:extLst>
          </p:cNvPr>
          <p:cNvCxnSpPr/>
          <p:nvPr/>
        </p:nvCxnSpPr>
        <p:spPr>
          <a:xfrm flipV="1">
            <a:off x="12103100" y="0"/>
            <a:ext cx="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EUB Integrated - bottom diagonal">
            <a:extLst>
              <a:ext uri="{FF2B5EF4-FFF2-40B4-BE49-F238E27FC236}">
                <a16:creationId xmlns:a16="http://schemas.microsoft.com/office/drawing/2014/main" id="{0F455CB6-6FA3-497D-C1EB-C397A60F2580}"/>
              </a:ext>
            </a:extLst>
          </p:cNvPr>
          <p:cNvCxnSpPr/>
          <p:nvPr/>
        </p:nvCxnSpPr>
        <p:spPr>
          <a:xfrm>
            <a:off x="0" y="6248400"/>
            <a:ext cx="469900" cy="469900"/>
          </a:xfrm>
          <a:prstGeom prst="line">
            <a:avLst/>
          </a:prstGeom>
          <a:ln w="2794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EUB Integrated - bottom horizontal">
            <a:extLst>
              <a:ext uri="{FF2B5EF4-FFF2-40B4-BE49-F238E27FC236}">
                <a16:creationId xmlns:a16="http://schemas.microsoft.com/office/drawing/2014/main" id="{BE3C3E3C-4EF8-8714-0D7B-E9E67272D406}"/>
              </a:ext>
            </a:extLst>
          </p:cNvPr>
          <p:cNvCxnSpPr/>
          <p:nvPr/>
        </p:nvCxnSpPr>
        <p:spPr>
          <a:xfrm>
            <a:off x="469900" y="6718300"/>
            <a:ext cx="11722100" cy="0"/>
          </a:xfrm>
          <a:prstGeom prst="line">
            <a:avLst/>
          </a:prstGeom>
          <a:ln w="1778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EUB Integrated - cover rail">
            <a:extLst>
              <a:ext uri="{FF2B5EF4-FFF2-40B4-BE49-F238E27FC236}">
                <a16:creationId xmlns:a16="http://schemas.microsoft.com/office/drawing/2014/main" id="{A8ACB0A7-0266-C542-F896-7FA386338096}"/>
              </a:ext>
            </a:extLst>
          </p:cNvPr>
          <p:cNvSpPr/>
          <p:nvPr/>
        </p:nvSpPr>
        <p:spPr>
          <a:xfrm>
            <a:off x="0" y="0"/>
            <a:ext cx="88900" cy="6858000"/>
          </a:xfrm>
          <a:prstGeom prst="rect">
            <a:avLst/>
          </a:prstGeom>
          <a:solidFill>
            <a:srgbClr val="EC008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CEUB Integrated - logo" descr="CEUB Educação Superior">
            <a:extLst>
              <a:ext uri="{FF2B5EF4-FFF2-40B4-BE49-F238E27FC236}">
                <a16:creationId xmlns:a16="http://schemas.microsoft.com/office/drawing/2014/main" id="{566BE3CD-5725-BFFB-077E-37F06D2DAD5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63500"/>
            <a:ext cx="1193800" cy="5454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731520" y="164592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3054E"/>
                </a:solidFill>
                <a:latin typeface="Aptos Display" panose="020B0004020202020204" pitchFamily="34" charset="0"/>
                <a:ea typeface="Aptos Display" pitchFamily="34" charset="-122"/>
                <a:cs typeface="Aptos Display" pitchFamily="34" charset="-120"/>
              </a:rPr>
              <a:t>Visão geral do semestre</a:t>
            </a:r>
            <a:endParaRPr lang="en-US" sz="3000" b="1" dirty="0">
              <a:solidFill>
                <a:srgbClr val="43054E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57607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C0089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O que vamos </a:t>
            </a:r>
            <a:r>
              <a:rPr lang="en-US" sz="1400" b="1" dirty="0" err="1">
                <a:solidFill>
                  <a:srgbClr val="EC0089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estudar</a:t>
            </a:r>
            <a:r>
              <a:rPr lang="en-US" sz="1400" b="1" dirty="0">
                <a:solidFill>
                  <a:srgbClr val="EC0089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 </a:t>
            </a:r>
            <a:endParaRPr lang="en-US" sz="1400" b="1" dirty="0">
              <a:solidFill>
                <a:srgbClr val="EC0089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Introdução e </a:t>
            </a:r>
            <a:r>
              <a:rPr lang="en-US" sz="220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conceitos</a:t>
            </a: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20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fundamentais</a:t>
            </a:r>
            <a:endParaRPr lang="en-US" sz="2200" dirty="0"/>
          </a:p>
          <a:p>
            <a:pPr marL="279400" indent="-279400">
              <a:buSzPct val="100000"/>
              <a:buChar char="•"/>
            </a:pPr>
            <a:r>
              <a:rPr lang="en-US" sz="220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Criptografia</a:t>
            </a: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20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Simétrica</a:t>
            </a:r>
            <a:endParaRPr lang="en-US" sz="2200" dirty="0"/>
          </a:p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Cifras de Bloco (e </a:t>
            </a:r>
            <a:r>
              <a:rPr lang="en-US" sz="220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modos</a:t>
            </a: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n-US" sz="2200" dirty="0"/>
          </a:p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Distribuição de Chaves</a:t>
            </a:r>
            <a:endParaRPr lang="en-US" sz="2200" dirty="0"/>
          </a:p>
          <a:p>
            <a:pPr marL="279400" indent="-279400">
              <a:buSzPct val="100000"/>
              <a:buChar char="•"/>
            </a:pPr>
            <a:r>
              <a:rPr lang="en-US" sz="220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Criptografia</a:t>
            </a: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20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Assimétrica</a:t>
            </a:r>
            <a:endParaRPr lang="en-US" sz="2200" dirty="0"/>
          </a:p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Garantia de Integridade (hash/MAC/assinatura — visão </a:t>
            </a:r>
            <a:r>
              <a:rPr lang="en-US" sz="220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geral</a:t>
            </a: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n-US" sz="2200" dirty="0"/>
          </a:p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Segurança de Sistemas</a:t>
            </a:r>
          </a:p>
          <a:p>
            <a:pPr marL="279400" indent="-279400">
              <a:buSzPct val="100000"/>
              <a:buFontTx/>
              <a:buChar char="•"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the Flag (CTF) • </a:t>
            </a:r>
            <a:r>
              <a:rPr lang="en-US" sz="220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Avaliação</a:t>
            </a: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1</a:t>
            </a:r>
            <a:endParaRPr lang="en-US" sz="2200" dirty="0"/>
          </a:p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Segurança de Redes</a:t>
            </a:r>
            <a:endParaRPr lang="en-US" sz="2200" dirty="0"/>
          </a:p>
          <a:p>
            <a:pPr marL="279400" indent="-279400">
              <a:buSzPct val="100000"/>
              <a:buChar char="•"/>
            </a:pPr>
            <a:r>
              <a:rPr lang="en-US" sz="220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Criptomoedas</a:t>
            </a:r>
            <a:endParaRPr lang="en-US" sz="2200" dirty="0"/>
          </a:p>
          <a:p>
            <a:pPr marL="279400" indent="-279400">
              <a:buSzPct val="100000"/>
              <a:buChar char="•"/>
            </a:pPr>
            <a:r>
              <a:rPr lang="en-US" sz="220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Votação</a:t>
            </a: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20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Eletrônica</a:t>
            </a:r>
            <a:endParaRPr lang="en-US" sz="2200" dirty="0"/>
          </a:p>
          <a:p>
            <a:pPr marL="279400" indent="-279400">
              <a:buSzPct val="100000"/>
              <a:buChar char="•"/>
            </a:pPr>
            <a:r>
              <a:rPr lang="en-US" sz="220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Avaliação</a:t>
            </a:r>
            <a:r>
              <a:rPr lang="en-US" sz="2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2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F9F2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3152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Introdução à Segurança Cibernética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66960" y="6473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1 • 3h</a:t>
            </a:r>
            <a:endParaRPr lang="en-US" sz="1200" dirty="0"/>
          </a:p>
        </p:txBody>
      </p:sp>
      <p:sp>
        <p:nvSpPr>
          <p:cNvPr id="11" name="CEUB Integrated - title marker">
            <a:extLst>
              <a:ext uri="{FF2B5EF4-FFF2-40B4-BE49-F238E27FC236}">
                <a16:creationId xmlns:a16="http://schemas.microsoft.com/office/drawing/2014/main" id="{342055EA-A05E-BA05-7826-747FE4EC5CF4}"/>
              </a:ext>
            </a:extLst>
          </p:cNvPr>
          <p:cNvSpPr/>
          <p:nvPr/>
        </p:nvSpPr>
        <p:spPr>
          <a:xfrm>
            <a:off x="591820" y="189992"/>
            <a:ext cx="57150" cy="406400"/>
          </a:xfrm>
          <a:prstGeom prst="rect">
            <a:avLst/>
          </a:prstGeom>
          <a:solidFill>
            <a:srgbClr val="EC008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EUB Integrated - top diagonal">
            <a:extLst>
              <a:ext uri="{FF2B5EF4-FFF2-40B4-BE49-F238E27FC236}">
                <a16:creationId xmlns:a16="http://schemas.microsoft.com/office/drawing/2014/main" id="{C8006B02-01B2-2EA8-F2C8-93532414567F}"/>
              </a:ext>
            </a:extLst>
          </p:cNvPr>
          <p:cNvCxnSpPr/>
          <p:nvPr/>
        </p:nvCxnSpPr>
        <p:spPr>
          <a:xfrm>
            <a:off x="9804400" y="0"/>
            <a:ext cx="46990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EUB Integrated - top horizontal">
            <a:extLst>
              <a:ext uri="{FF2B5EF4-FFF2-40B4-BE49-F238E27FC236}">
                <a16:creationId xmlns:a16="http://schemas.microsoft.com/office/drawing/2014/main" id="{52E862B5-E821-8BBF-CA95-17A68EB9E6DA}"/>
              </a:ext>
            </a:extLst>
          </p:cNvPr>
          <p:cNvCxnSpPr/>
          <p:nvPr/>
        </p:nvCxnSpPr>
        <p:spPr>
          <a:xfrm>
            <a:off x="10274300" y="520700"/>
            <a:ext cx="1828800" cy="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EUB Integrated - top vertical">
            <a:extLst>
              <a:ext uri="{FF2B5EF4-FFF2-40B4-BE49-F238E27FC236}">
                <a16:creationId xmlns:a16="http://schemas.microsoft.com/office/drawing/2014/main" id="{96A87C50-EDA9-EF86-8470-1CAA8AEA950C}"/>
              </a:ext>
            </a:extLst>
          </p:cNvPr>
          <p:cNvCxnSpPr/>
          <p:nvPr/>
        </p:nvCxnSpPr>
        <p:spPr>
          <a:xfrm flipV="1">
            <a:off x="12103100" y="0"/>
            <a:ext cx="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EUB Integrated - bottom diagonal">
            <a:extLst>
              <a:ext uri="{FF2B5EF4-FFF2-40B4-BE49-F238E27FC236}">
                <a16:creationId xmlns:a16="http://schemas.microsoft.com/office/drawing/2014/main" id="{69C02B29-2DBC-79DD-D05C-2E5C0E596C26}"/>
              </a:ext>
            </a:extLst>
          </p:cNvPr>
          <p:cNvCxnSpPr/>
          <p:nvPr/>
        </p:nvCxnSpPr>
        <p:spPr>
          <a:xfrm>
            <a:off x="0" y="6248400"/>
            <a:ext cx="469900" cy="469900"/>
          </a:xfrm>
          <a:prstGeom prst="line">
            <a:avLst/>
          </a:prstGeom>
          <a:ln w="2794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EUB Integrated - bottom horizontal">
            <a:extLst>
              <a:ext uri="{FF2B5EF4-FFF2-40B4-BE49-F238E27FC236}">
                <a16:creationId xmlns:a16="http://schemas.microsoft.com/office/drawing/2014/main" id="{90FD4756-7FDC-80E5-A210-6D6C25C331A2}"/>
              </a:ext>
            </a:extLst>
          </p:cNvPr>
          <p:cNvCxnSpPr/>
          <p:nvPr/>
        </p:nvCxnSpPr>
        <p:spPr>
          <a:xfrm>
            <a:off x="469900" y="6718300"/>
            <a:ext cx="11722100" cy="0"/>
          </a:xfrm>
          <a:prstGeom prst="line">
            <a:avLst/>
          </a:prstGeom>
          <a:ln w="17780">
            <a:solidFill>
              <a:srgbClr val="4305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CEUB Integrated - logo" descr="CEUB Educação Superior">
            <a:extLst>
              <a:ext uri="{FF2B5EF4-FFF2-40B4-BE49-F238E27FC236}">
                <a16:creationId xmlns:a16="http://schemas.microsoft.com/office/drawing/2014/main" id="{4B246469-0E2D-A2A8-54FC-FD4DFE009A1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63500"/>
            <a:ext cx="1193800" cy="5454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10972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14630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C0089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segurança cibernética em 1 slide</a:t>
            </a:r>
            <a:endParaRPr lang="en-US" sz="1200" b="1" dirty="0">
              <a:solidFill>
                <a:srgbClr val="EC0089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5623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054E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Segurança da Informação:</a:t>
            </a:r>
            <a:endParaRPr lang="en-US" sz="2400" b="1" dirty="0">
              <a:solidFill>
                <a:srgbClr val="43054E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618488"/>
            <a:ext cx="56235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Conjunto de práticas para proteger dados e sistemas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◦ em pessoas, processos e tecnologia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Não existe “100% seguro” — existe redução de risco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◦ e resposta a incidentes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Segurança é um trade-off: custo × usabilidade × proteção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46520" y="1051560"/>
            <a:ext cx="5102352" cy="2148840"/>
          </a:xfrm>
          <a:prstGeom prst="roundRect">
            <a:avLst/>
          </a:prstGeom>
          <a:solidFill>
            <a:srgbClr val="F9F2FA"/>
          </a:solidFill>
          <a:ln w="12700">
            <a:solidFill>
              <a:srgbClr val="DBC3E1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446520" y="1051560"/>
            <a:ext cx="109728" cy="214884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647688" y="1216152"/>
            <a:ext cx="4736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Vocabulário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47688" y="1645920"/>
            <a:ext cx="473659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Ameaça: algo que pode causar dano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Vulnerabilidade: fraqueza explorável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Exploit: técnica/código que explora a falha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consequência do ataque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≈ probabilidade × </a:t>
            </a:r>
            <a:r>
              <a:rPr lang="en-US" sz="1400" dirty="0" err="1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=&gt; A nota do CVE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46520" y="3429000"/>
            <a:ext cx="5102352" cy="3063240"/>
          </a:xfrm>
          <a:prstGeom prst="roundRect">
            <a:avLst/>
          </a:prstGeom>
          <a:solidFill>
            <a:srgbClr val="F9F2FA"/>
          </a:solidFill>
          <a:ln w="12700">
            <a:solidFill>
              <a:srgbClr val="DBC3E1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6446520" y="3429000"/>
            <a:ext cx="109728" cy="30632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647688" y="3593592"/>
            <a:ext cx="4736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rápido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47688" y="4023360"/>
            <a:ext cx="4873752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fraca (vuln) + atacante tentando (ameaça)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chance de </a:t>
            </a:r>
            <a:r>
              <a:rPr lang="en-US" sz="1400" dirty="0" err="1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invasão</a:t>
            </a: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400" dirty="0" err="1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probabilidade</a:t>
            </a: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x </a:t>
            </a:r>
            <a:r>
              <a:rPr lang="en-US" sz="1400" dirty="0" err="1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permissões</a:t>
            </a: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1400" dirty="0" err="1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</a:t>
            </a: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400" dirty="0" err="1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Mitigação: MFA, senha forte, lockout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Resposta: logs, detecção, recuperação</a:t>
            </a:r>
            <a:endParaRPr lang="en-US" sz="1400" dirty="0"/>
          </a:p>
        </p:txBody>
      </p:sp>
      <p:sp>
        <p:nvSpPr>
          <p:cNvPr id="17" name="CEUB Integrated - title marker">
            <a:extLst>
              <a:ext uri="{FF2B5EF4-FFF2-40B4-BE49-F238E27FC236}">
                <a16:creationId xmlns:a16="http://schemas.microsoft.com/office/drawing/2014/main" id="{E78BF37E-B91F-D5F7-3E63-FED529D3DEB0}"/>
              </a:ext>
            </a:extLst>
          </p:cNvPr>
          <p:cNvSpPr/>
          <p:nvPr/>
        </p:nvSpPr>
        <p:spPr>
          <a:xfrm>
            <a:off x="500380" y="1076960"/>
            <a:ext cx="57150" cy="406400"/>
          </a:xfrm>
          <a:prstGeom prst="rect">
            <a:avLst/>
          </a:prstGeom>
          <a:solidFill>
            <a:srgbClr val="EC008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EUB Integrated - top diagonal">
            <a:extLst>
              <a:ext uri="{FF2B5EF4-FFF2-40B4-BE49-F238E27FC236}">
                <a16:creationId xmlns:a16="http://schemas.microsoft.com/office/drawing/2014/main" id="{89DC0F20-7BE4-C6FD-B5F2-F838B8ED89EC}"/>
              </a:ext>
            </a:extLst>
          </p:cNvPr>
          <p:cNvCxnSpPr/>
          <p:nvPr/>
        </p:nvCxnSpPr>
        <p:spPr>
          <a:xfrm>
            <a:off x="9804400" y="0"/>
            <a:ext cx="46990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EUB Integrated - top horizontal">
            <a:extLst>
              <a:ext uri="{FF2B5EF4-FFF2-40B4-BE49-F238E27FC236}">
                <a16:creationId xmlns:a16="http://schemas.microsoft.com/office/drawing/2014/main" id="{C971AFB2-F994-782C-3302-ABBE1329DD2C}"/>
              </a:ext>
            </a:extLst>
          </p:cNvPr>
          <p:cNvCxnSpPr/>
          <p:nvPr/>
        </p:nvCxnSpPr>
        <p:spPr>
          <a:xfrm>
            <a:off x="10274300" y="520700"/>
            <a:ext cx="1828800" cy="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EUB Integrated - top vertical">
            <a:extLst>
              <a:ext uri="{FF2B5EF4-FFF2-40B4-BE49-F238E27FC236}">
                <a16:creationId xmlns:a16="http://schemas.microsoft.com/office/drawing/2014/main" id="{CFA68D30-30B6-3417-EE6D-E768AA56E782}"/>
              </a:ext>
            </a:extLst>
          </p:cNvPr>
          <p:cNvCxnSpPr/>
          <p:nvPr/>
        </p:nvCxnSpPr>
        <p:spPr>
          <a:xfrm flipV="1">
            <a:off x="12103100" y="0"/>
            <a:ext cx="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EUB Integrated - bottom diagonal">
            <a:extLst>
              <a:ext uri="{FF2B5EF4-FFF2-40B4-BE49-F238E27FC236}">
                <a16:creationId xmlns:a16="http://schemas.microsoft.com/office/drawing/2014/main" id="{19BD36C5-0632-83CA-FC14-7C3A29A7E832}"/>
              </a:ext>
            </a:extLst>
          </p:cNvPr>
          <p:cNvCxnSpPr/>
          <p:nvPr/>
        </p:nvCxnSpPr>
        <p:spPr>
          <a:xfrm>
            <a:off x="0" y="6248400"/>
            <a:ext cx="469900" cy="469900"/>
          </a:xfrm>
          <a:prstGeom prst="line">
            <a:avLst/>
          </a:prstGeom>
          <a:ln w="2794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EUB Integrated - bottom horizontal">
            <a:extLst>
              <a:ext uri="{FF2B5EF4-FFF2-40B4-BE49-F238E27FC236}">
                <a16:creationId xmlns:a16="http://schemas.microsoft.com/office/drawing/2014/main" id="{177FE8FD-BDB0-F415-37B2-E950325FD863}"/>
              </a:ext>
            </a:extLst>
          </p:cNvPr>
          <p:cNvCxnSpPr/>
          <p:nvPr/>
        </p:nvCxnSpPr>
        <p:spPr>
          <a:xfrm>
            <a:off x="469900" y="6718300"/>
            <a:ext cx="11722100" cy="0"/>
          </a:xfrm>
          <a:prstGeom prst="line">
            <a:avLst/>
          </a:prstGeom>
          <a:ln w="17780">
            <a:solidFill>
              <a:srgbClr val="4305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CEUB Integrated - logo" descr="CEUB Educação Superior">
            <a:extLst>
              <a:ext uri="{FF2B5EF4-FFF2-40B4-BE49-F238E27FC236}">
                <a16:creationId xmlns:a16="http://schemas.microsoft.com/office/drawing/2014/main" id="{3BF15C9A-9526-E39E-49E7-A654BE538C3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63500"/>
            <a:ext cx="1193800" cy="5454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10972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3054E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2000" b="1" dirty="0">
              <a:solidFill>
                <a:srgbClr val="43054E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686800" y="14630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C0089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objetivos (CIA)</a:t>
            </a:r>
            <a:endParaRPr lang="en-US" sz="1200" b="1" dirty="0">
              <a:solidFill>
                <a:srgbClr val="EC0089"/>
              </a:solidFill>
              <a:latin typeface="Aptos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3611880" cy="5440680"/>
          </a:xfrm>
          <a:prstGeom prst="roundRect">
            <a:avLst/>
          </a:prstGeom>
          <a:solidFill>
            <a:srgbClr val="F9F2FA"/>
          </a:solidFill>
          <a:ln w="12700">
            <a:solidFill>
              <a:srgbClr val="DBC3E1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109728" cy="5440680"/>
          </a:xfrm>
          <a:prstGeom prst="rect">
            <a:avLst/>
          </a:prstGeom>
          <a:solidFill>
            <a:srgbClr val="D81B60"/>
          </a:solidFill>
          <a:ln w="12700">
            <a:solidFill>
              <a:srgbClr val="D81B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41248" y="121615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1645920"/>
            <a:ext cx="3246120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quem tem permissão vê a informação.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criptografia, controle de acesso, classificação.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 típica: vazamento.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051560"/>
            <a:ext cx="3611880" cy="5440680"/>
          </a:xfrm>
          <a:prstGeom prst="roundRect">
            <a:avLst/>
          </a:prstGeom>
          <a:solidFill>
            <a:srgbClr val="F9F2FA"/>
          </a:solidFill>
          <a:ln w="12700">
            <a:solidFill>
              <a:srgbClr val="DBC3E1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343400" y="1051560"/>
            <a:ext cx="109728" cy="544068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44568" y="121615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44568" y="1645920"/>
            <a:ext cx="3246120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informação não é alterada indevidamente.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hash, assinatura, controles de mudança.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 típica: adulteração.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1051560"/>
            <a:ext cx="3611880" cy="5440680"/>
          </a:xfrm>
          <a:prstGeom prst="roundRect">
            <a:avLst/>
          </a:prstGeom>
          <a:solidFill>
            <a:srgbClr val="F9F2FA"/>
          </a:solidFill>
          <a:ln w="12700">
            <a:solidFill>
              <a:srgbClr val="DBC3E1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8046720" y="1051560"/>
            <a:ext cx="109728" cy="54406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8247888" y="121615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47888" y="1645920"/>
            <a:ext cx="3246120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Serviço/dado acessível quando necessário.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backup, redundância, anti-DDoS.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 típica: indisponibilidade.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foco em CONFIDENCIALIDADE com criptografia — mas sempre pensando no todo.</a:t>
            </a:r>
            <a:endParaRPr lang="en-US" sz="1000" dirty="0"/>
          </a:p>
        </p:txBody>
      </p:sp>
      <p:sp>
        <p:nvSpPr>
          <p:cNvPr id="20" name="CEUB Integrated - title marker">
            <a:extLst>
              <a:ext uri="{FF2B5EF4-FFF2-40B4-BE49-F238E27FC236}">
                <a16:creationId xmlns:a16="http://schemas.microsoft.com/office/drawing/2014/main" id="{FA03748F-C62B-A1AC-65FE-B001EFAF676A}"/>
              </a:ext>
            </a:extLst>
          </p:cNvPr>
          <p:cNvSpPr/>
          <p:nvPr/>
        </p:nvSpPr>
        <p:spPr>
          <a:xfrm>
            <a:off x="500380" y="135128"/>
            <a:ext cx="57150" cy="406400"/>
          </a:xfrm>
          <a:prstGeom prst="rect">
            <a:avLst/>
          </a:prstGeom>
          <a:solidFill>
            <a:srgbClr val="EC008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2" name="CEUB Integrated - top diagonal">
            <a:extLst>
              <a:ext uri="{FF2B5EF4-FFF2-40B4-BE49-F238E27FC236}">
                <a16:creationId xmlns:a16="http://schemas.microsoft.com/office/drawing/2014/main" id="{3BF54A2B-74D2-93A5-896B-0799BC1DD5B8}"/>
              </a:ext>
            </a:extLst>
          </p:cNvPr>
          <p:cNvCxnSpPr/>
          <p:nvPr/>
        </p:nvCxnSpPr>
        <p:spPr>
          <a:xfrm>
            <a:off x="9804400" y="0"/>
            <a:ext cx="46990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EUB Integrated - top horizontal">
            <a:extLst>
              <a:ext uri="{FF2B5EF4-FFF2-40B4-BE49-F238E27FC236}">
                <a16:creationId xmlns:a16="http://schemas.microsoft.com/office/drawing/2014/main" id="{7AEBD0A0-FC69-CF5A-F1A2-079A6D7AA6D1}"/>
              </a:ext>
            </a:extLst>
          </p:cNvPr>
          <p:cNvCxnSpPr/>
          <p:nvPr/>
        </p:nvCxnSpPr>
        <p:spPr>
          <a:xfrm>
            <a:off x="10274300" y="520700"/>
            <a:ext cx="1828800" cy="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EUB Integrated - top vertical">
            <a:extLst>
              <a:ext uri="{FF2B5EF4-FFF2-40B4-BE49-F238E27FC236}">
                <a16:creationId xmlns:a16="http://schemas.microsoft.com/office/drawing/2014/main" id="{8A8E5FE1-0936-F325-A046-39C047D18752}"/>
              </a:ext>
            </a:extLst>
          </p:cNvPr>
          <p:cNvCxnSpPr/>
          <p:nvPr/>
        </p:nvCxnSpPr>
        <p:spPr>
          <a:xfrm flipV="1">
            <a:off x="12103100" y="0"/>
            <a:ext cx="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EUB Integrated - bottom diagonal">
            <a:extLst>
              <a:ext uri="{FF2B5EF4-FFF2-40B4-BE49-F238E27FC236}">
                <a16:creationId xmlns:a16="http://schemas.microsoft.com/office/drawing/2014/main" id="{6B05B251-F3B7-F53F-3948-1BAA960CB4F4}"/>
              </a:ext>
            </a:extLst>
          </p:cNvPr>
          <p:cNvCxnSpPr/>
          <p:nvPr/>
        </p:nvCxnSpPr>
        <p:spPr>
          <a:xfrm>
            <a:off x="0" y="6248400"/>
            <a:ext cx="469900" cy="469900"/>
          </a:xfrm>
          <a:prstGeom prst="line">
            <a:avLst/>
          </a:prstGeom>
          <a:ln w="2794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EUB Integrated - bottom horizontal">
            <a:extLst>
              <a:ext uri="{FF2B5EF4-FFF2-40B4-BE49-F238E27FC236}">
                <a16:creationId xmlns:a16="http://schemas.microsoft.com/office/drawing/2014/main" id="{725F5753-2691-86EA-AFF2-01B29DB8A190}"/>
              </a:ext>
            </a:extLst>
          </p:cNvPr>
          <p:cNvCxnSpPr/>
          <p:nvPr/>
        </p:nvCxnSpPr>
        <p:spPr>
          <a:xfrm>
            <a:off x="469900" y="6718300"/>
            <a:ext cx="11722100" cy="0"/>
          </a:xfrm>
          <a:prstGeom prst="line">
            <a:avLst/>
          </a:prstGeom>
          <a:ln w="17780">
            <a:solidFill>
              <a:srgbClr val="4305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CEUB Integrated - logo" descr="CEUB Educação Superior">
            <a:extLst>
              <a:ext uri="{FF2B5EF4-FFF2-40B4-BE49-F238E27FC236}">
                <a16:creationId xmlns:a16="http://schemas.microsoft.com/office/drawing/2014/main" id="{FA3C8AFC-9EC1-6705-3449-EF8CE4F5240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63500"/>
            <a:ext cx="1193800" cy="5454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10972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14630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C0089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controle de acesso</a:t>
            </a:r>
            <a:endParaRPr lang="en-US" sz="1200" b="1" dirty="0">
              <a:solidFill>
                <a:srgbClr val="EC0089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054E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Perguntas clássicas:</a:t>
            </a:r>
            <a:endParaRPr lang="en-US" sz="2400" b="1" dirty="0">
              <a:solidFill>
                <a:srgbClr val="43054E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618488"/>
            <a:ext cx="10972800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Autenticação: “quem é você?”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◦ senha, token, biometria, MFA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Autorização: “o que você pode fazer?”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◦ papéis (RBAC), permissões, políticas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Auditoria: “o que foi feito e quando?”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◦ logs, trilhas, evidências</a:t>
            </a:r>
            <a:endParaRPr lang="en-US" sz="1800" dirty="0"/>
          </a:p>
        </p:txBody>
      </p:sp>
      <p:sp>
        <p:nvSpPr>
          <p:cNvPr id="9" name="CEUB Integrated - title marker">
            <a:extLst>
              <a:ext uri="{FF2B5EF4-FFF2-40B4-BE49-F238E27FC236}">
                <a16:creationId xmlns:a16="http://schemas.microsoft.com/office/drawing/2014/main" id="{0433C867-B061-4268-4A7B-51BC83AA6607}"/>
              </a:ext>
            </a:extLst>
          </p:cNvPr>
          <p:cNvSpPr/>
          <p:nvPr/>
        </p:nvSpPr>
        <p:spPr>
          <a:xfrm>
            <a:off x="500380" y="1076960"/>
            <a:ext cx="57150" cy="406400"/>
          </a:xfrm>
          <a:prstGeom prst="rect">
            <a:avLst/>
          </a:prstGeom>
          <a:solidFill>
            <a:srgbClr val="EC008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EUB Integrated - top diagonal">
            <a:extLst>
              <a:ext uri="{FF2B5EF4-FFF2-40B4-BE49-F238E27FC236}">
                <a16:creationId xmlns:a16="http://schemas.microsoft.com/office/drawing/2014/main" id="{04820862-45FB-FEDD-8DCB-317466B44329}"/>
              </a:ext>
            </a:extLst>
          </p:cNvPr>
          <p:cNvCxnSpPr/>
          <p:nvPr/>
        </p:nvCxnSpPr>
        <p:spPr>
          <a:xfrm>
            <a:off x="9804400" y="0"/>
            <a:ext cx="46990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EUB Integrated - top horizontal">
            <a:extLst>
              <a:ext uri="{FF2B5EF4-FFF2-40B4-BE49-F238E27FC236}">
                <a16:creationId xmlns:a16="http://schemas.microsoft.com/office/drawing/2014/main" id="{85311B68-07C5-C1E7-ABF9-A5ECF065A200}"/>
              </a:ext>
            </a:extLst>
          </p:cNvPr>
          <p:cNvCxnSpPr/>
          <p:nvPr/>
        </p:nvCxnSpPr>
        <p:spPr>
          <a:xfrm>
            <a:off x="10274300" y="520700"/>
            <a:ext cx="1828800" cy="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EUB Integrated - top vertical">
            <a:extLst>
              <a:ext uri="{FF2B5EF4-FFF2-40B4-BE49-F238E27FC236}">
                <a16:creationId xmlns:a16="http://schemas.microsoft.com/office/drawing/2014/main" id="{2CA4184F-D142-179E-747F-024672F126AE}"/>
              </a:ext>
            </a:extLst>
          </p:cNvPr>
          <p:cNvCxnSpPr/>
          <p:nvPr/>
        </p:nvCxnSpPr>
        <p:spPr>
          <a:xfrm flipV="1">
            <a:off x="12103100" y="0"/>
            <a:ext cx="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EUB Integrated - bottom diagonal">
            <a:extLst>
              <a:ext uri="{FF2B5EF4-FFF2-40B4-BE49-F238E27FC236}">
                <a16:creationId xmlns:a16="http://schemas.microsoft.com/office/drawing/2014/main" id="{A4BC6113-A7F6-DF93-AA21-7EFC57CD9639}"/>
              </a:ext>
            </a:extLst>
          </p:cNvPr>
          <p:cNvCxnSpPr/>
          <p:nvPr/>
        </p:nvCxnSpPr>
        <p:spPr>
          <a:xfrm>
            <a:off x="0" y="6248400"/>
            <a:ext cx="469900" cy="469900"/>
          </a:xfrm>
          <a:prstGeom prst="line">
            <a:avLst/>
          </a:prstGeom>
          <a:ln w="2794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EUB Integrated - bottom horizontal">
            <a:extLst>
              <a:ext uri="{FF2B5EF4-FFF2-40B4-BE49-F238E27FC236}">
                <a16:creationId xmlns:a16="http://schemas.microsoft.com/office/drawing/2014/main" id="{215D432E-F7DB-3CAE-8F8C-5468B609FCB5}"/>
              </a:ext>
            </a:extLst>
          </p:cNvPr>
          <p:cNvCxnSpPr/>
          <p:nvPr/>
        </p:nvCxnSpPr>
        <p:spPr>
          <a:xfrm>
            <a:off x="469900" y="6718300"/>
            <a:ext cx="11722100" cy="0"/>
          </a:xfrm>
          <a:prstGeom prst="line">
            <a:avLst/>
          </a:prstGeom>
          <a:ln w="17780">
            <a:solidFill>
              <a:srgbClr val="4305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CEUB Integrated - logo" descr="CEUB Educação Superior">
            <a:extLst>
              <a:ext uri="{FF2B5EF4-FFF2-40B4-BE49-F238E27FC236}">
                <a16:creationId xmlns:a16="http://schemas.microsoft.com/office/drawing/2014/main" id="{2B91DB39-A649-ADA2-437E-C2C59DC5AE8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63500"/>
            <a:ext cx="1193800" cy="5454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10972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14630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C0089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por que usar</a:t>
            </a:r>
            <a:endParaRPr lang="en-US" sz="1200" b="1" dirty="0">
              <a:solidFill>
                <a:srgbClr val="EC0089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054E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Criptografia ajuda a:</a:t>
            </a:r>
            <a:endParaRPr lang="en-US" sz="2400" b="1" dirty="0">
              <a:solidFill>
                <a:srgbClr val="43054E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618488"/>
            <a:ext cx="5760720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Proteger dados em trânsito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◦ ex.: HTTPS/TLS, Wi‑Fi, VPN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Proteger dados em repouso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◦ ex.: disco/backup criptografado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Provar integridade e autoria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◦ hash + assinatura (mais à frente)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46520" y="1051560"/>
            <a:ext cx="5102352" cy="2148840"/>
          </a:xfrm>
          <a:prstGeom prst="roundRect">
            <a:avLst/>
          </a:prstGeom>
          <a:solidFill>
            <a:srgbClr val="F9F2FA"/>
          </a:solidFill>
          <a:ln w="12700">
            <a:solidFill>
              <a:srgbClr val="DBC3E1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446520" y="1051560"/>
            <a:ext cx="109728" cy="2148840"/>
          </a:xfrm>
          <a:prstGeom prst="rect">
            <a:avLst/>
          </a:prstGeom>
          <a:solidFill>
            <a:srgbClr val="D81B60"/>
          </a:solidFill>
          <a:ln w="12700">
            <a:solidFill>
              <a:srgbClr val="D81B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647688" y="1216152"/>
            <a:ext cx="4736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Termos essenciais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47688" y="1645920"/>
            <a:ext cx="473659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Plaintext: mensagem original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Ciphertext: mensagem cifrada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Cifra/algoritmo: regra de transformação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Chave: segredo que controla a cifra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46520" y="3429000"/>
            <a:ext cx="5102352" cy="3063240"/>
          </a:xfrm>
          <a:prstGeom prst="roundRect">
            <a:avLst/>
          </a:prstGeom>
          <a:solidFill>
            <a:srgbClr val="F9F2FA"/>
          </a:solidFill>
          <a:ln w="12700">
            <a:solidFill>
              <a:srgbClr val="DBC3E1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6446520" y="3429000"/>
            <a:ext cx="109728" cy="306324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647688" y="3593592"/>
            <a:ext cx="4736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importante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47688" y="4023360"/>
            <a:ext cx="4736592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Kerckhoffs: o algoritmo pode ser público;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segurança deve depender da chave.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“Segurança por obscuridade” ≠ criptografia.</a:t>
            </a:r>
            <a:endParaRPr lang="en-US" sz="1400" dirty="0"/>
          </a:p>
        </p:txBody>
      </p:sp>
      <p:sp>
        <p:nvSpPr>
          <p:cNvPr id="17" name="CEUB Integrated - title marker">
            <a:extLst>
              <a:ext uri="{FF2B5EF4-FFF2-40B4-BE49-F238E27FC236}">
                <a16:creationId xmlns:a16="http://schemas.microsoft.com/office/drawing/2014/main" id="{560B320A-0DD4-22AE-C207-D36874F8B226}"/>
              </a:ext>
            </a:extLst>
          </p:cNvPr>
          <p:cNvSpPr/>
          <p:nvPr/>
        </p:nvSpPr>
        <p:spPr>
          <a:xfrm>
            <a:off x="500380" y="1076960"/>
            <a:ext cx="57150" cy="406400"/>
          </a:xfrm>
          <a:prstGeom prst="rect">
            <a:avLst/>
          </a:prstGeom>
          <a:solidFill>
            <a:srgbClr val="EC008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EUB Integrated - top diagonal">
            <a:extLst>
              <a:ext uri="{FF2B5EF4-FFF2-40B4-BE49-F238E27FC236}">
                <a16:creationId xmlns:a16="http://schemas.microsoft.com/office/drawing/2014/main" id="{0FC8FEBA-878A-D5D7-5B01-AC613F0D9D5B}"/>
              </a:ext>
            </a:extLst>
          </p:cNvPr>
          <p:cNvCxnSpPr/>
          <p:nvPr/>
        </p:nvCxnSpPr>
        <p:spPr>
          <a:xfrm>
            <a:off x="9804400" y="0"/>
            <a:ext cx="46990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EUB Integrated - top horizontal">
            <a:extLst>
              <a:ext uri="{FF2B5EF4-FFF2-40B4-BE49-F238E27FC236}">
                <a16:creationId xmlns:a16="http://schemas.microsoft.com/office/drawing/2014/main" id="{0B40EF07-185A-791F-D82C-4D3A01218D8B}"/>
              </a:ext>
            </a:extLst>
          </p:cNvPr>
          <p:cNvCxnSpPr/>
          <p:nvPr/>
        </p:nvCxnSpPr>
        <p:spPr>
          <a:xfrm>
            <a:off x="10274300" y="520700"/>
            <a:ext cx="1828800" cy="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EUB Integrated - top vertical">
            <a:extLst>
              <a:ext uri="{FF2B5EF4-FFF2-40B4-BE49-F238E27FC236}">
                <a16:creationId xmlns:a16="http://schemas.microsoft.com/office/drawing/2014/main" id="{7948AF99-5D43-5BC5-BC48-6AC7EA7C2A8C}"/>
              </a:ext>
            </a:extLst>
          </p:cNvPr>
          <p:cNvCxnSpPr/>
          <p:nvPr/>
        </p:nvCxnSpPr>
        <p:spPr>
          <a:xfrm flipV="1">
            <a:off x="12103100" y="0"/>
            <a:ext cx="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EUB Integrated - bottom diagonal">
            <a:extLst>
              <a:ext uri="{FF2B5EF4-FFF2-40B4-BE49-F238E27FC236}">
                <a16:creationId xmlns:a16="http://schemas.microsoft.com/office/drawing/2014/main" id="{8A05D59A-D0F2-13C9-6E43-4A404ADFE289}"/>
              </a:ext>
            </a:extLst>
          </p:cNvPr>
          <p:cNvCxnSpPr/>
          <p:nvPr/>
        </p:nvCxnSpPr>
        <p:spPr>
          <a:xfrm>
            <a:off x="0" y="6248400"/>
            <a:ext cx="469900" cy="469900"/>
          </a:xfrm>
          <a:prstGeom prst="line">
            <a:avLst/>
          </a:prstGeom>
          <a:ln w="2794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EUB Integrated - bottom horizontal">
            <a:extLst>
              <a:ext uri="{FF2B5EF4-FFF2-40B4-BE49-F238E27FC236}">
                <a16:creationId xmlns:a16="http://schemas.microsoft.com/office/drawing/2014/main" id="{2E33E2A3-85FE-D6B3-B0B1-0271DD54572C}"/>
              </a:ext>
            </a:extLst>
          </p:cNvPr>
          <p:cNvCxnSpPr/>
          <p:nvPr/>
        </p:nvCxnSpPr>
        <p:spPr>
          <a:xfrm>
            <a:off x="469900" y="6718300"/>
            <a:ext cx="11722100" cy="0"/>
          </a:xfrm>
          <a:prstGeom prst="line">
            <a:avLst/>
          </a:prstGeom>
          <a:ln w="17780">
            <a:solidFill>
              <a:srgbClr val="4305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CEUB Integrated - logo" descr="CEUB Educação Superior">
            <a:extLst>
              <a:ext uri="{FF2B5EF4-FFF2-40B4-BE49-F238E27FC236}">
                <a16:creationId xmlns:a16="http://schemas.microsoft.com/office/drawing/2014/main" id="{5166B670-9582-58DF-D823-E9D2C6FC839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63500"/>
            <a:ext cx="1193800" cy="5454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10972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14630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C0089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cifra ≠ código</a:t>
            </a:r>
            <a:endParaRPr lang="en-US" sz="1200" b="1" dirty="0">
              <a:solidFill>
                <a:srgbClr val="EC0089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054E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Diferença rápida:</a:t>
            </a:r>
            <a:endParaRPr lang="en-US" sz="2400" b="1" dirty="0">
              <a:solidFill>
                <a:srgbClr val="43054E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618488"/>
            <a:ext cx="10972800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Cifra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◦ transforma símbolos/letras segundo uma chave (ex.: César)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Código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◦ substitui palavras/frases inteiras (ex.: “atacar ao amanhecer” → “azul 17”)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Criptoanálise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◦ técnicas para quebrar/recuperar a mensagem ou a chave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clássicas são ótimas para aprender — mas NÃO devem ser usadas para proteger dados reais.</a:t>
            </a:r>
            <a:endParaRPr lang="en-US" sz="1000" dirty="0"/>
          </a:p>
        </p:txBody>
      </p:sp>
      <p:sp>
        <p:nvSpPr>
          <p:cNvPr id="10" name="CEUB Integrated - title marker">
            <a:extLst>
              <a:ext uri="{FF2B5EF4-FFF2-40B4-BE49-F238E27FC236}">
                <a16:creationId xmlns:a16="http://schemas.microsoft.com/office/drawing/2014/main" id="{37D45AFD-A8EA-E80F-1F01-86433643E488}"/>
              </a:ext>
            </a:extLst>
          </p:cNvPr>
          <p:cNvSpPr/>
          <p:nvPr/>
        </p:nvSpPr>
        <p:spPr>
          <a:xfrm>
            <a:off x="500380" y="1076960"/>
            <a:ext cx="57150" cy="406400"/>
          </a:xfrm>
          <a:prstGeom prst="rect">
            <a:avLst/>
          </a:prstGeom>
          <a:solidFill>
            <a:srgbClr val="EC008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EUB Integrated - top diagonal">
            <a:extLst>
              <a:ext uri="{FF2B5EF4-FFF2-40B4-BE49-F238E27FC236}">
                <a16:creationId xmlns:a16="http://schemas.microsoft.com/office/drawing/2014/main" id="{EC4F2ADC-F6E6-C652-EFD4-34244AABB690}"/>
              </a:ext>
            </a:extLst>
          </p:cNvPr>
          <p:cNvCxnSpPr/>
          <p:nvPr/>
        </p:nvCxnSpPr>
        <p:spPr>
          <a:xfrm>
            <a:off x="9804400" y="0"/>
            <a:ext cx="46990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EUB Integrated - top horizontal">
            <a:extLst>
              <a:ext uri="{FF2B5EF4-FFF2-40B4-BE49-F238E27FC236}">
                <a16:creationId xmlns:a16="http://schemas.microsoft.com/office/drawing/2014/main" id="{6EB48C29-97C9-8F7F-3DB4-170194F81012}"/>
              </a:ext>
            </a:extLst>
          </p:cNvPr>
          <p:cNvCxnSpPr/>
          <p:nvPr/>
        </p:nvCxnSpPr>
        <p:spPr>
          <a:xfrm>
            <a:off x="10274300" y="520700"/>
            <a:ext cx="1828800" cy="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EUB Integrated - top vertical">
            <a:extLst>
              <a:ext uri="{FF2B5EF4-FFF2-40B4-BE49-F238E27FC236}">
                <a16:creationId xmlns:a16="http://schemas.microsoft.com/office/drawing/2014/main" id="{074F6216-F6FD-0B9D-E55A-588A81DA462F}"/>
              </a:ext>
            </a:extLst>
          </p:cNvPr>
          <p:cNvCxnSpPr/>
          <p:nvPr/>
        </p:nvCxnSpPr>
        <p:spPr>
          <a:xfrm flipV="1">
            <a:off x="12103100" y="0"/>
            <a:ext cx="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EUB Integrated - bottom diagonal">
            <a:extLst>
              <a:ext uri="{FF2B5EF4-FFF2-40B4-BE49-F238E27FC236}">
                <a16:creationId xmlns:a16="http://schemas.microsoft.com/office/drawing/2014/main" id="{BFFBED0B-A5CD-06C3-34D1-7F999E06F2DB}"/>
              </a:ext>
            </a:extLst>
          </p:cNvPr>
          <p:cNvCxnSpPr/>
          <p:nvPr/>
        </p:nvCxnSpPr>
        <p:spPr>
          <a:xfrm>
            <a:off x="0" y="6248400"/>
            <a:ext cx="469900" cy="469900"/>
          </a:xfrm>
          <a:prstGeom prst="line">
            <a:avLst/>
          </a:prstGeom>
          <a:ln w="2794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EUB Integrated - bottom horizontal">
            <a:extLst>
              <a:ext uri="{FF2B5EF4-FFF2-40B4-BE49-F238E27FC236}">
                <a16:creationId xmlns:a16="http://schemas.microsoft.com/office/drawing/2014/main" id="{37D15667-7185-9AD5-A81F-E9C53ED945EF}"/>
              </a:ext>
            </a:extLst>
          </p:cNvPr>
          <p:cNvCxnSpPr/>
          <p:nvPr/>
        </p:nvCxnSpPr>
        <p:spPr>
          <a:xfrm>
            <a:off x="469900" y="6718300"/>
            <a:ext cx="11722100" cy="0"/>
          </a:xfrm>
          <a:prstGeom prst="line">
            <a:avLst/>
          </a:prstGeom>
          <a:ln w="17780">
            <a:solidFill>
              <a:srgbClr val="4305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CEUB Integrated - logo" descr="CEUB Educação Superior">
            <a:extLst>
              <a:ext uri="{FF2B5EF4-FFF2-40B4-BE49-F238E27FC236}">
                <a16:creationId xmlns:a16="http://schemas.microsoft.com/office/drawing/2014/main" id="{04A25EC6-A890-BB41-702D-C710B682DF2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63500"/>
            <a:ext cx="1193800" cy="5454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10972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simples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14630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C0089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substituição</a:t>
            </a:r>
            <a:endParaRPr lang="en-US" sz="1200" b="1" dirty="0">
              <a:solidFill>
                <a:srgbClr val="EC0089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054E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Ideia central:</a:t>
            </a:r>
            <a:endParaRPr lang="en-US" sz="2400" b="1" dirty="0">
              <a:solidFill>
                <a:srgbClr val="43054E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618488"/>
            <a:ext cx="566928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Trocar cada letra por outra letra (ou por um deslocamento).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Chave = regra da troca.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Decifrar = aplicar a regra inversa.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46520" y="1051560"/>
            <a:ext cx="5102352" cy="5440680"/>
          </a:xfrm>
          <a:prstGeom prst="roundRect">
            <a:avLst/>
          </a:prstGeom>
          <a:solidFill>
            <a:srgbClr val="F9F2FA"/>
          </a:solidFill>
          <a:ln w="12700">
            <a:solidFill>
              <a:srgbClr val="DBC3E1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446520" y="1051560"/>
            <a:ext cx="109728" cy="54406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647688" y="1216152"/>
            <a:ext cx="4736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47688" y="1645920"/>
            <a:ext cx="4736592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do “espaço de chaves” importa.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estatísticos vazam (frequência).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Ataques: força bruta, dicionário, conhecido-plaintext.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 criptografia tenta “esconder padrões”.</a:t>
            </a:r>
            <a:endParaRPr lang="en-US" sz="1400" dirty="0"/>
          </a:p>
        </p:txBody>
      </p:sp>
      <p:sp>
        <p:nvSpPr>
          <p:cNvPr id="13" name="CEUB Integrated - title marker">
            <a:extLst>
              <a:ext uri="{FF2B5EF4-FFF2-40B4-BE49-F238E27FC236}">
                <a16:creationId xmlns:a16="http://schemas.microsoft.com/office/drawing/2014/main" id="{887D20D9-A539-7847-341D-41FD2DDE0A33}"/>
              </a:ext>
            </a:extLst>
          </p:cNvPr>
          <p:cNvSpPr/>
          <p:nvPr/>
        </p:nvSpPr>
        <p:spPr>
          <a:xfrm>
            <a:off x="500380" y="1076960"/>
            <a:ext cx="57150" cy="406400"/>
          </a:xfrm>
          <a:prstGeom prst="rect">
            <a:avLst/>
          </a:prstGeom>
          <a:solidFill>
            <a:srgbClr val="EC008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5" name="CEUB Integrated - top diagonal">
            <a:extLst>
              <a:ext uri="{FF2B5EF4-FFF2-40B4-BE49-F238E27FC236}">
                <a16:creationId xmlns:a16="http://schemas.microsoft.com/office/drawing/2014/main" id="{4AA4E328-B3A6-F1AA-675F-03944016E52D}"/>
              </a:ext>
            </a:extLst>
          </p:cNvPr>
          <p:cNvCxnSpPr/>
          <p:nvPr/>
        </p:nvCxnSpPr>
        <p:spPr>
          <a:xfrm>
            <a:off x="9804400" y="0"/>
            <a:ext cx="46990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EUB Integrated - top horizontal">
            <a:extLst>
              <a:ext uri="{FF2B5EF4-FFF2-40B4-BE49-F238E27FC236}">
                <a16:creationId xmlns:a16="http://schemas.microsoft.com/office/drawing/2014/main" id="{3BA7EB48-02E8-E03E-943D-FD978705BFDC}"/>
              </a:ext>
            </a:extLst>
          </p:cNvPr>
          <p:cNvCxnSpPr/>
          <p:nvPr/>
        </p:nvCxnSpPr>
        <p:spPr>
          <a:xfrm>
            <a:off x="10274300" y="520700"/>
            <a:ext cx="1828800" cy="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EUB Integrated - top vertical">
            <a:extLst>
              <a:ext uri="{FF2B5EF4-FFF2-40B4-BE49-F238E27FC236}">
                <a16:creationId xmlns:a16="http://schemas.microsoft.com/office/drawing/2014/main" id="{7C977033-9F49-0AE7-1E99-5BF9FDCE9499}"/>
              </a:ext>
            </a:extLst>
          </p:cNvPr>
          <p:cNvCxnSpPr/>
          <p:nvPr/>
        </p:nvCxnSpPr>
        <p:spPr>
          <a:xfrm flipV="1">
            <a:off x="12103100" y="0"/>
            <a:ext cx="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EUB Integrated - bottom diagonal">
            <a:extLst>
              <a:ext uri="{FF2B5EF4-FFF2-40B4-BE49-F238E27FC236}">
                <a16:creationId xmlns:a16="http://schemas.microsoft.com/office/drawing/2014/main" id="{0ADAE8D1-2A22-026B-43C0-A97F264E3120}"/>
              </a:ext>
            </a:extLst>
          </p:cNvPr>
          <p:cNvCxnSpPr/>
          <p:nvPr/>
        </p:nvCxnSpPr>
        <p:spPr>
          <a:xfrm>
            <a:off x="0" y="6248400"/>
            <a:ext cx="469900" cy="469900"/>
          </a:xfrm>
          <a:prstGeom prst="line">
            <a:avLst/>
          </a:prstGeom>
          <a:ln w="2794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EUB Integrated - bottom horizontal">
            <a:extLst>
              <a:ext uri="{FF2B5EF4-FFF2-40B4-BE49-F238E27FC236}">
                <a16:creationId xmlns:a16="http://schemas.microsoft.com/office/drawing/2014/main" id="{18837FAA-8005-538E-6B67-6C9C3283150C}"/>
              </a:ext>
            </a:extLst>
          </p:cNvPr>
          <p:cNvCxnSpPr/>
          <p:nvPr/>
        </p:nvCxnSpPr>
        <p:spPr>
          <a:xfrm>
            <a:off x="469900" y="6718300"/>
            <a:ext cx="11722100" cy="0"/>
          </a:xfrm>
          <a:prstGeom prst="line">
            <a:avLst/>
          </a:prstGeom>
          <a:ln w="17780">
            <a:solidFill>
              <a:srgbClr val="4305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CEUB Integrated - logo" descr="CEUB Educação Superior">
            <a:extLst>
              <a:ext uri="{FF2B5EF4-FFF2-40B4-BE49-F238E27FC236}">
                <a16:creationId xmlns:a16="http://schemas.microsoft.com/office/drawing/2014/main" id="{594ED1D6-935B-A9B4-6565-2B373C5B554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63500"/>
            <a:ext cx="1193800" cy="5454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10972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 de César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14630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C0089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deslocamento</a:t>
            </a:r>
            <a:endParaRPr lang="en-US" sz="1200" b="1" dirty="0">
              <a:solidFill>
                <a:srgbClr val="EC0089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054E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Definição:</a:t>
            </a:r>
            <a:endParaRPr lang="en-US" sz="2400" b="1" dirty="0">
              <a:solidFill>
                <a:srgbClr val="43054E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618488"/>
            <a:ext cx="594360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Escolha um deslocamento k (0–25).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Substitua A→(A+k), B→(B+k)… (cíclico).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Ex.: k=3: A→D, B→E, …, X→A.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46520" y="1051560"/>
            <a:ext cx="5102352" cy="420624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121A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611112" y="1124712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C0089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400" b="1" dirty="0">
              <a:solidFill>
                <a:srgbClr val="EC0089"/>
              </a:solidFill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46520" y="1545336"/>
            <a:ext cx="5102352" cy="420624"/>
          </a:xfrm>
          <a:prstGeom prst="roundRect">
            <a:avLst/>
          </a:prstGeom>
          <a:solidFill>
            <a:srgbClr val="F9F2FA"/>
          </a:solidFill>
          <a:ln w="12700">
            <a:solidFill>
              <a:srgbClr val="DBC3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611112" y="1636776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Plain :  ABCDEFGHIJKLMNOPQRSTUVWXYZ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46520" y="1965960"/>
            <a:ext cx="5102352" cy="420624"/>
          </a:xfrm>
          <a:prstGeom prst="roundRect">
            <a:avLst/>
          </a:prstGeom>
          <a:solidFill>
            <a:srgbClr val="F9F2FA"/>
          </a:solidFill>
          <a:ln w="12700">
            <a:solidFill>
              <a:srgbClr val="DBC3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611112" y="2057400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k=3   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46520" y="2386584"/>
            <a:ext cx="5102352" cy="420624"/>
          </a:xfrm>
          <a:prstGeom prst="roundRect">
            <a:avLst/>
          </a:prstGeom>
          <a:solidFill>
            <a:srgbClr val="F9F2FA"/>
          </a:solidFill>
          <a:ln w="12700">
            <a:solidFill>
              <a:srgbClr val="DBC3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611112" y="2478024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46520" y="2807208"/>
            <a:ext cx="5102352" cy="420624"/>
          </a:xfrm>
          <a:prstGeom prst="roundRect">
            <a:avLst/>
          </a:prstGeom>
          <a:solidFill>
            <a:srgbClr val="F9F2FA"/>
          </a:solidFill>
          <a:ln w="12700">
            <a:solidFill>
              <a:srgbClr val="DBC3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611112" y="2898648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Mensagem:     ATAQUE AO AMANHECER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46520" y="3227832"/>
            <a:ext cx="5102352" cy="420624"/>
          </a:xfrm>
          <a:prstGeom prst="roundRect">
            <a:avLst/>
          </a:prstGeom>
          <a:solidFill>
            <a:srgbClr val="F9F2FA"/>
          </a:solidFill>
          <a:ln w="12700">
            <a:solidFill>
              <a:srgbClr val="DBC3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611112" y="3319272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2A3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Cifrado</a:t>
            </a:r>
            <a:r>
              <a:rPr lang="en-US" sz="1400" dirty="0">
                <a:solidFill>
                  <a:srgbClr val="2A3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k=4: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Observação: removi acentos/espaços no exemplo para simplificar.</a:t>
            </a:r>
            <a:endParaRPr lang="en-US" sz="1000" dirty="0"/>
          </a:p>
        </p:txBody>
      </p:sp>
      <p:sp>
        <p:nvSpPr>
          <p:cNvPr id="22" name="CEUB Integrated - title marker">
            <a:extLst>
              <a:ext uri="{FF2B5EF4-FFF2-40B4-BE49-F238E27FC236}">
                <a16:creationId xmlns:a16="http://schemas.microsoft.com/office/drawing/2014/main" id="{8292AA22-4A1F-8323-F916-E7D974AB542F}"/>
              </a:ext>
            </a:extLst>
          </p:cNvPr>
          <p:cNvSpPr/>
          <p:nvPr/>
        </p:nvSpPr>
        <p:spPr>
          <a:xfrm>
            <a:off x="500380" y="1076960"/>
            <a:ext cx="57150" cy="406400"/>
          </a:xfrm>
          <a:prstGeom prst="rect">
            <a:avLst/>
          </a:prstGeom>
          <a:solidFill>
            <a:srgbClr val="EC008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4" name="CEUB Integrated - top diagonal">
            <a:extLst>
              <a:ext uri="{FF2B5EF4-FFF2-40B4-BE49-F238E27FC236}">
                <a16:creationId xmlns:a16="http://schemas.microsoft.com/office/drawing/2014/main" id="{E64246C9-BA0A-CB0F-6E57-A0191E18E682}"/>
              </a:ext>
            </a:extLst>
          </p:cNvPr>
          <p:cNvCxnSpPr/>
          <p:nvPr/>
        </p:nvCxnSpPr>
        <p:spPr>
          <a:xfrm>
            <a:off x="9804400" y="0"/>
            <a:ext cx="46990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EUB Integrated - top horizontal">
            <a:extLst>
              <a:ext uri="{FF2B5EF4-FFF2-40B4-BE49-F238E27FC236}">
                <a16:creationId xmlns:a16="http://schemas.microsoft.com/office/drawing/2014/main" id="{79147EE7-7E04-AD6E-0502-5B66819EE397}"/>
              </a:ext>
            </a:extLst>
          </p:cNvPr>
          <p:cNvCxnSpPr/>
          <p:nvPr/>
        </p:nvCxnSpPr>
        <p:spPr>
          <a:xfrm>
            <a:off x="10274300" y="520700"/>
            <a:ext cx="1828800" cy="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EUB Integrated - top vertical">
            <a:extLst>
              <a:ext uri="{FF2B5EF4-FFF2-40B4-BE49-F238E27FC236}">
                <a16:creationId xmlns:a16="http://schemas.microsoft.com/office/drawing/2014/main" id="{BEBBC780-DD21-E409-86E3-79BF1B9F69F5}"/>
              </a:ext>
            </a:extLst>
          </p:cNvPr>
          <p:cNvCxnSpPr/>
          <p:nvPr/>
        </p:nvCxnSpPr>
        <p:spPr>
          <a:xfrm flipV="1">
            <a:off x="12103100" y="0"/>
            <a:ext cx="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EUB Integrated - bottom diagonal">
            <a:extLst>
              <a:ext uri="{FF2B5EF4-FFF2-40B4-BE49-F238E27FC236}">
                <a16:creationId xmlns:a16="http://schemas.microsoft.com/office/drawing/2014/main" id="{1E0969D7-907E-9CFB-31C7-7E3B0C6CFED9}"/>
              </a:ext>
            </a:extLst>
          </p:cNvPr>
          <p:cNvCxnSpPr/>
          <p:nvPr/>
        </p:nvCxnSpPr>
        <p:spPr>
          <a:xfrm>
            <a:off x="0" y="6248400"/>
            <a:ext cx="469900" cy="469900"/>
          </a:xfrm>
          <a:prstGeom prst="line">
            <a:avLst/>
          </a:prstGeom>
          <a:ln w="2794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EUB Integrated - bottom horizontal">
            <a:extLst>
              <a:ext uri="{FF2B5EF4-FFF2-40B4-BE49-F238E27FC236}">
                <a16:creationId xmlns:a16="http://schemas.microsoft.com/office/drawing/2014/main" id="{D10F7150-FE66-8023-786F-ED49A88E1704}"/>
              </a:ext>
            </a:extLst>
          </p:cNvPr>
          <p:cNvCxnSpPr/>
          <p:nvPr/>
        </p:nvCxnSpPr>
        <p:spPr>
          <a:xfrm>
            <a:off x="469900" y="6718300"/>
            <a:ext cx="11722100" cy="0"/>
          </a:xfrm>
          <a:prstGeom prst="line">
            <a:avLst/>
          </a:prstGeom>
          <a:ln w="17780">
            <a:solidFill>
              <a:srgbClr val="4305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CEUB Integrated - logo" descr="CEUB Educação Superior">
            <a:extLst>
              <a:ext uri="{FF2B5EF4-FFF2-40B4-BE49-F238E27FC236}">
                <a16:creationId xmlns:a16="http://schemas.microsoft.com/office/drawing/2014/main" id="{9722E6D2-CCA1-8D00-AFBD-54F417A6FEF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63500"/>
            <a:ext cx="1193800" cy="5454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76011-6552-2C49-ABDC-33986C4D2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78EAD46-FCF8-2C1D-5238-939FE642D843}"/>
              </a:ext>
            </a:extLst>
          </p:cNvPr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ED640AA-FB12-E4CD-897F-B0F713406497}"/>
              </a:ext>
            </a:extLst>
          </p:cNvPr>
          <p:cNvSpPr/>
          <p:nvPr/>
        </p:nvSpPr>
        <p:spPr>
          <a:xfrm>
            <a:off x="640080" y="10972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 de César</a:t>
            </a:r>
            <a:endParaRPr lang="en-US" sz="2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06735EA-240B-3BAB-887C-B13FB3D9F730}"/>
              </a:ext>
            </a:extLst>
          </p:cNvPr>
          <p:cNvSpPr/>
          <p:nvPr/>
        </p:nvSpPr>
        <p:spPr>
          <a:xfrm>
            <a:off x="8686800" y="14630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C0089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deslocamento</a:t>
            </a:r>
            <a:endParaRPr lang="en-US" sz="1200" b="1" dirty="0">
              <a:solidFill>
                <a:srgbClr val="EC0089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3C4690A-16EA-9CE7-8670-B487457939F5}"/>
              </a:ext>
            </a:extLst>
          </p:cNvPr>
          <p:cNvSpPr/>
          <p:nvPr/>
        </p:nvSpPr>
        <p:spPr>
          <a:xfrm>
            <a:off x="640080" y="10515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054E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Definição:</a:t>
            </a:r>
            <a:endParaRPr lang="en-US" sz="2400" b="1" dirty="0">
              <a:solidFill>
                <a:srgbClr val="43054E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6872F8B-7FA5-2B44-44D4-76F235D0B405}"/>
              </a:ext>
            </a:extLst>
          </p:cNvPr>
          <p:cNvSpPr/>
          <p:nvPr/>
        </p:nvSpPr>
        <p:spPr>
          <a:xfrm>
            <a:off x="640080" y="1618488"/>
            <a:ext cx="594360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Escolha um deslocamento k (0–25).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Substitua A→(A+k), B→(B+k)… (cíclico).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Ex.: k=3: A→D, B→E, …, X→A.</a:t>
            </a:r>
            <a:endParaRPr lang="en-US" sz="18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ACAB24C-BC2D-BF86-44DA-DB371AE04C09}"/>
              </a:ext>
            </a:extLst>
          </p:cNvPr>
          <p:cNvSpPr/>
          <p:nvPr/>
        </p:nvSpPr>
        <p:spPr>
          <a:xfrm>
            <a:off x="6446520" y="1051560"/>
            <a:ext cx="5102352" cy="420624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121A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0E22CC5-9955-D65D-CE16-BDE66506742F}"/>
              </a:ext>
            </a:extLst>
          </p:cNvPr>
          <p:cNvSpPr/>
          <p:nvPr/>
        </p:nvSpPr>
        <p:spPr>
          <a:xfrm>
            <a:off x="6611112" y="1124712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C0089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400" b="1" dirty="0">
              <a:solidFill>
                <a:srgbClr val="EC0089"/>
              </a:solidFill>
              <a:latin typeface="Aptos" panose="020B0004020202020204" pitchFamily="34" charset="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0B386D5-FF06-AF45-4C01-ABE04909B248}"/>
              </a:ext>
            </a:extLst>
          </p:cNvPr>
          <p:cNvSpPr/>
          <p:nvPr/>
        </p:nvSpPr>
        <p:spPr>
          <a:xfrm>
            <a:off x="6446520" y="1545336"/>
            <a:ext cx="5102352" cy="420624"/>
          </a:xfrm>
          <a:prstGeom prst="roundRect">
            <a:avLst/>
          </a:prstGeom>
          <a:solidFill>
            <a:srgbClr val="F9F2FA"/>
          </a:solidFill>
          <a:ln w="12700">
            <a:solidFill>
              <a:srgbClr val="DBC3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4803507-6C9C-F42C-9B73-9226D0A2FD4B}"/>
              </a:ext>
            </a:extLst>
          </p:cNvPr>
          <p:cNvSpPr/>
          <p:nvPr/>
        </p:nvSpPr>
        <p:spPr>
          <a:xfrm>
            <a:off x="6611112" y="1636776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Plain :  ABCDEFGHIJKLMNOPQRSTUVWXYZ</a:t>
            </a:r>
            <a:endParaRPr lang="en-US" sz="14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ADDD750-06B0-9752-7CBF-25618ACE52F1}"/>
              </a:ext>
            </a:extLst>
          </p:cNvPr>
          <p:cNvSpPr/>
          <p:nvPr/>
        </p:nvSpPr>
        <p:spPr>
          <a:xfrm>
            <a:off x="6446520" y="1965960"/>
            <a:ext cx="5102352" cy="420624"/>
          </a:xfrm>
          <a:prstGeom prst="roundRect">
            <a:avLst/>
          </a:prstGeom>
          <a:solidFill>
            <a:srgbClr val="F9F2FA"/>
          </a:solidFill>
          <a:ln w="12700">
            <a:solidFill>
              <a:srgbClr val="DBC3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6C8DB9F-4E0A-81CF-F93B-1B974E519004}"/>
              </a:ext>
            </a:extLst>
          </p:cNvPr>
          <p:cNvSpPr/>
          <p:nvPr/>
        </p:nvSpPr>
        <p:spPr>
          <a:xfrm>
            <a:off x="6611112" y="2057400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k=3   :  DEFGHIJKLMNOPQRSTUVWXYZABC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AA93540-41CC-0DBB-1A12-65D8F65C5C92}"/>
              </a:ext>
            </a:extLst>
          </p:cNvPr>
          <p:cNvSpPr/>
          <p:nvPr/>
        </p:nvSpPr>
        <p:spPr>
          <a:xfrm>
            <a:off x="6446520" y="2386584"/>
            <a:ext cx="5102352" cy="420624"/>
          </a:xfrm>
          <a:prstGeom prst="roundRect">
            <a:avLst/>
          </a:prstGeom>
          <a:solidFill>
            <a:srgbClr val="F9F2FA"/>
          </a:solidFill>
          <a:ln w="12700">
            <a:solidFill>
              <a:srgbClr val="DBC3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9A467DE-B57E-3874-D937-C90AA9765FA5}"/>
              </a:ext>
            </a:extLst>
          </p:cNvPr>
          <p:cNvSpPr/>
          <p:nvPr/>
        </p:nvSpPr>
        <p:spPr>
          <a:xfrm>
            <a:off x="6611112" y="2478024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05D1551-5ABF-8193-9E24-219B69092EF5}"/>
              </a:ext>
            </a:extLst>
          </p:cNvPr>
          <p:cNvSpPr/>
          <p:nvPr/>
        </p:nvSpPr>
        <p:spPr>
          <a:xfrm>
            <a:off x="6446520" y="2807208"/>
            <a:ext cx="5102352" cy="420624"/>
          </a:xfrm>
          <a:prstGeom prst="roundRect">
            <a:avLst/>
          </a:prstGeom>
          <a:solidFill>
            <a:srgbClr val="F9F2FA"/>
          </a:solidFill>
          <a:ln w="12700">
            <a:solidFill>
              <a:srgbClr val="DBC3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E7BAEA9-EC91-634F-6E63-DC655B41A791}"/>
              </a:ext>
            </a:extLst>
          </p:cNvPr>
          <p:cNvSpPr/>
          <p:nvPr/>
        </p:nvSpPr>
        <p:spPr>
          <a:xfrm>
            <a:off x="6611112" y="2898648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Mensagem:     ATAQUE AO AMANHECER</a:t>
            </a:r>
            <a:endParaRPr lang="en-US" sz="14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DC0B7758-7BF9-6F74-76AC-9A164E9B4671}"/>
              </a:ext>
            </a:extLst>
          </p:cNvPr>
          <p:cNvSpPr/>
          <p:nvPr/>
        </p:nvSpPr>
        <p:spPr>
          <a:xfrm>
            <a:off x="6446520" y="3227832"/>
            <a:ext cx="5102352" cy="420624"/>
          </a:xfrm>
          <a:prstGeom prst="roundRect">
            <a:avLst/>
          </a:prstGeom>
          <a:solidFill>
            <a:srgbClr val="F9F2FA"/>
          </a:solidFill>
          <a:ln w="12700">
            <a:solidFill>
              <a:srgbClr val="DBC3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4BB3202-6A17-7E91-D06F-193B7CAA132F}"/>
              </a:ext>
            </a:extLst>
          </p:cNvPr>
          <p:cNvSpPr/>
          <p:nvPr/>
        </p:nvSpPr>
        <p:spPr>
          <a:xfrm>
            <a:off x="6611112" y="3319272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2A3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Cifrado</a:t>
            </a:r>
            <a:r>
              <a:rPr lang="en-US" sz="1400" dirty="0">
                <a:solidFill>
                  <a:srgbClr val="2A3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k=4:</a:t>
            </a:r>
            <a:endParaRPr lang="en-US" sz="14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3F6B570-A15F-E15C-3A7A-2158512EA82A}"/>
              </a:ext>
            </a:extLst>
          </p:cNvPr>
          <p:cNvSpPr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Observação: removi acentos/espaços no exemplo para simplificar.</a:t>
            </a:r>
            <a:endParaRPr lang="en-US" sz="1000" dirty="0"/>
          </a:p>
        </p:txBody>
      </p:sp>
      <p:sp>
        <p:nvSpPr>
          <p:cNvPr id="22" name="CEUB Integrated - title marker">
            <a:extLst>
              <a:ext uri="{FF2B5EF4-FFF2-40B4-BE49-F238E27FC236}">
                <a16:creationId xmlns:a16="http://schemas.microsoft.com/office/drawing/2014/main" id="{C9AAEE16-FB40-EA7A-A573-846E26C2E0F8}"/>
              </a:ext>
            </a:extLst>
          </p:cNvPr>
          <p:cNvSpPr/>
          <p:nvPr/>
        </p:nvSpPr>
        <p:spPr>
          <a:xfrm>
            <a:off x="500380" y="1076960"/>
            <a:ext cx="57150" cy="406400"/>
          </a:xfrm>
          <a:prstGeom prst="rect">
            <a:avLst/>
          </a:prstGeom>
          <a:solidFill>
            <a:srgbClr val="EC008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4" name="CEUB Integrated - top diagonal">
            <a:extLst>
              <a:ext uri="{FF2B5EF4-FFF2-40B4-BE49-F238E27FC236}">
                <a16:creationId xmlns:a16="http://schemas.microsoft.com/office/drawing/2014/main" id="{466A1670-FE2E-C4A0-126F-68A74EB02392}"/>
              </a:ext>
            </a:extLst>
          </p:cNvPr>
          <p:cNvCxnSpPr/>
          <p:nvPr/>
        </p:nvCxnSpPr>
        <p:spPr>
          <a:xfrm>
            <a:off x="9804400" y="0"/>
            <a:ext cx="46990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EUB Integrated - top horizontal">
            <a:extLst>
              <a:ext uri="{FF2B5EF4-FFF2-40B4-BE49-F238E27FC236}">
                <a16:creationId xmlns:a16="http://schemas.microsoft.com/office/drawing/2014/main" id="{964BF78B-3176-BB68-987D-56E5336CE640}"/>
              </a:ext>
            </a:extLst>
          </p:cNvPr>
          <p:cNvCxnSpPr/>
          <p:nvPr/>
        </p:nvCxnSpPr>
        <p:spPr>
          <a:xfrm>
            <a:off x="10274300" y="520700"/>
            <a:ext cx="1828800" cy="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EUB Integrated - top vertical">
            <a:extLst>
              <a:ext uri="{FF2B5EF4-FFF2-40B4-BE49-F238E27FC236}">
                <a16:creationId xmlns:a16="http://schemas.microsoft.com/office/drawing/2014/main" id="{9C775A9D-482A-09A4-04D8-BB1F8014C7CC}"/>
              </a:ext>
            </a:extLst>
          </p:cNvPr>
          <p:cNvCxnSpPr/>
          <p:nvPr/>
        </p:nvCxnSpPr>
        <p:spPr>
          <a:xfrm flipV="1">
            <a:off x="12103100" y="0"/>
            <a:ext cx="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EUB Integrated - bottom diagonal">
            <a:extLst>
              <a:ext uri="{FF2B5EF4-FFF2-40B4-BE49-F238E27FC236}">
                <a16:creationId xmlns:a16="http://schemas.microsoft.com/office/drawing/2014/main" id="{E22F43AD-CA66-C8B0-CF90-B648E82FBD80}"/>
              </a:ext>
            </a:extLst>
          </p:cNvPr>
          <p:cNvCxnSpPr/>
          <p:nvPr/>
        </p:nvCxnSpPr>
        <p:spPr>
          <a:xfrm>
            <a:off x="0" y="6248400"/>
            <a:ext cx="469900" cy="469900"/>
          </a:xfrm>
          <a:prstGeom prst="line">
            <a:avLst/>
          </a:prstGeom>
          <a:ln w="2794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EUB Integrated - bottom horizontal">
            <a:extLst>
              <a:ext uri="{FF2B5EF4-FFF2-40B4-BE49-F238E27FC236}">
                <a16:creationId xmlns:a16="http://schemas.microsoft.com/office/drawing/2014/main" id="{6FCECD0B-00A1-E286-2870-4060EA6CC778}"/>
              </a:ext>
            </a:extLst>
          </p:cNvPr>
          <p:cNvCxnSpPr/>
          <p:nvPr/>
        </p:nvCxnSpPr>
        <p:spPr>
          <a:xfrm>
            <a:off x="469900" y="6718300"/>
            <a:ext cx="11722100" cy="0"/>
          </a:xfrm>
          <a:prstGeom prst="line">
            <a:avLst/>
          </a:prstGeom>
          <a:ln w="17780">
            <a:solidFill>
              <a:srgbClr val="4305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CEUB Integrated - logo" descr="CEUB Educação Superior">
            <a:extLst>
              <a:ext uri="{FF2B5EF4-FFF2-40B4-BE49-F238E27FC236}">
                <a16:creationId xmlns:a16="http://schemas.microsoft.com/office/drawing/2014/main" id="{D5D3999D-1A0A-9F87-7068-F1E05FDF2C7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63500"/>
            <a:ext cx="1193800" cy="545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495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5F51B7-5A9D-B3A4-0CC1-B0B8B79FC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D6D9F41-BFFB-F170-1963-0AF341B06249}"/>
              </a:ext>
            </a:extLst>
          </p:cNvPr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F6C9D68-47E3-42C8-BFB1-563E93E48B4C}"/>
              </a:ext>
            </a:extLst>
          </p:cNvPr>
          <p:cNvSpPr/>
          <p:nvPr/>
        </p:nvSpPr>
        <p:spPr>
          <a:xfrm>
            <a:off x="640080" y="10972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 de César</a:t>
            </a:r>
            <a:endParaRPr lang="en-US" sz="2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4CEE31E-B390-DC58-6C10-88010A419717}"/>
              </a:ext>
            </a:extLst>
          </p:cNvPr>
          <p:cNvSpPr/>
          <p:nvPr/>
        </p:nvSpPr>
        <p:spPr>
          <a:xfrm>
            <a:off x="8686800" y="14630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C0089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deslocamento</a:t>
            </a:r>
            <a:endParaRPr lang="en-US" sz="1200" b="1" dirty="0">
              <a:solidFill>
                <a:srgbClr val="EC0089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66C64CF-F472-E477-84D7-0E57C422BAE4}"/>
              </a:ext>
            </a:extLst>
          </p:cNvPr>
          <p:cNvSpPr/>
          <p:nvPr/>
        </p:nvSpPr>
        <p:spPr>
          <a:xfrm>
            <a:off x="640080" y="10515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054E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Definição:</a:t>
            </a:r>
            <a:endParaRPr lang="en-US" sz="2400" b="1" dirty="0">
              <a:solidFill>
                <a:srgbClr val="43054E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DADC3BB-BCB2-062C-58AA-FAA50DF6E808}"/>
              </a:ext>
            </a:extLst>
          </p:cNvPr>
          <p:cNvSpPr/>
          <p:nvPr/>
        </p:nvSpPr>
        <p:spPr>
          <a:xfrm>
            <a:off x="640080" y="1618488"/>
            <a:ext cx="594360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Escolha um deslocamento k (0–25).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Substitua A→(A+k), B→(B+k)… (cíclico).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Ex.: k=3: A→D, B→E, …, X→A.</a:t>
            </a:r>
            <a:endParaRPr lang="en-US" sz="18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4016138-0F75-D12E-7839-FB66FE17233D}"/>
              </a:ext>
            </a:extLst>
          </p:cNvPr>
          <p:cNvSpPr/>
          <p:nvPr/>
        </p:nvSpPr>
        <p:spPr>
          <a:xfrm>
            <a:off x="6446520" y="1051560"/>
            <a:ext cx="5102352" cy="420624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121A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7400BEB-BAF6-F12F-81AF-8CCA77617A34}"/>
              </a:ext>
            </a:extLst>
          </p:cNvPr>
          <p:cNvSpPr/>
          <p:nvPr/>
        </p:nvSpPr>
        <p:spPr>
          <a:xfrm>
            <a:off x="6611112" y="1124712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C0089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400" b="1" dirty="0">
              <a:solidFill>
                <a:srgbClr val="EC0089"/>
              </a:solidFill>
              <a:latin typeface="Aptos" panose="020B0004020202020204" pitchFamily="34" charset="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A2FBDA8-A86C-66FA-5A89-72AB4133931F}"/>
              </a:ext>
            </a:extLst>
          </p:cNvPr>
          <p:cNvSpPr/>
          <p:nvPr/>
        </p:nvSpPr>
        <p:spPr>
          <a:xfrm>
            <a:off x="6446520" y="1545336"/>
            <a:ext cx="5102352" cy="420624"/>
          </a:xfrm>
          <a:prstGeom prst="roundRect">
            <a:avLst/>
          </a:prstGeom>
          <a:solidFill>
            <a:srgbClr val="F9F2FA"/>
          </a:solidFill>
          <a:ln w="12700">
            <a:solidFill>
              <a:srgbClr val="DBC3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BBE68F9-3816-669C-B028-F490488BF76D}"/>
              </a:ext>
            </a:extLst>
          </p:cNvPr>
          <p:cNvSpPr/>
          <p:nvPr/>
        </p:nvSpPr>
        <p:spPr>
          <a:xfrm>
            <a:off x="6611112" y="1636776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Plain :  ABCDEFGHIJKLMNOPQRSTUVWXYZ</a:t>
            </a:r>
            <a:endParaRPr lang="en-US" sz="14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DD1337D-917A-5806-B8D4-3FD80560B0E2}"/>
              </a:ext>
            </a:extLst>
          </p:cNvPr>
          <p:cNvSpPr/>
          <p:nvPr/>
        </p:nvSpPr>
        <p:spPr>
          <a:xfrm>
            <a:off x="6446520" y="1965960"/>
            <a:ext cx="5102352" cy="420624"/>
          </a:xfrm>
          <a:prstGeom prst="roundRect">
            <a:avLst/>
          </a:prstGeom>
          <a:solidFill>
            <a:srgbClr val="F9F2FA"/>
          </a:solidFill>
          <a:ln w="12700">
            <a:solidFill>
              <a:srgbClr val="DBC3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F604B0B-B4B6-6565-6CE4-08EF1F2C55E3}"/>
              </a:ext>
            </a:extLst>
          </p:cNvPr>
          <p:cNvSpPr/>
          <p:nvPr/>
        </p:nvSpPr>
        <p:spPr>
          <a:xfrm>
            <a:off x="6611112" y="2057400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k=3   :  DEFGHIJKLMNOPQRSTUVWXYZABC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3985B03-4859-5C18-8570-2DAB4DC9C92A}"/>
              </a:ext>
            </a:extLst>
          </p:cNvPr>
          <p:cNvSpPr/>
          <p:nvPr/>
        </p:nvSpPr>
        <p:spPr>
          <a:xfrm>
            <a:off x="6446520" y="2386584"/>
            <a:ext cx="5102352" cy="420624"/>
          </a:xfrm>
          <a:prstGeom prst="roundRect">
            <a:avLst/>
          </a:prstGeom>
          <a:solidFill>
            <a:srgbClr val="F9F2FA"/>
          </a:solidFill>
          <a:ln w="12700">
            <a:solidFill>
              <a:srgbClr val="DBC3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A6134BA-3B3E-3D46-AE5F-0982352872FD}"/>
              </a:ext>
            </a:extLst>
          </p:cNvPr>
          <p:cNvSpPr/>
          <p:nvPr/>
        </p:nvSpPr>
        <p:spPr>
          <a:xfrm>
            <a:off x="6611112" y="2478024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F7C41A6-F6C9-C0F0-9D7F-BCA00D36100E}"/>
              </a:ext>
            </a:extLst>
          </p:cNvPr>
          <p:cNvSpPr/>
          <p:nvPr/>
        </p:nvSpPr>
        <p:spPr>
          <a:xfrm>
            <a:off x="6446520" y="2807208"/>
            <a:ext cx="5102352" cy="420624"/>
          </a:xfrm>
          <a:prstGeom prst="roundRect">
            <a:avLst/>
          </a:prstGeom>
          <a:solidFill>
            <a:srgbClr val="F9F2FA"/>
          </a:solidFill>
          <a:ln w="12700">
            <a:solidFill>
              <a:srgbClr val="DBC3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6DBE831-66C9-3B2D-ADC5-01F856487C61}"/>
              </a:ext>
            </a:extLst>
          </p:cNvPr>
          <p:cNvSpPr/>
          <p:nvPr/>
        </p:nvSpPr>
        <p:spPr>
          <a:xfrm>
            <a:off x="6611112" y="2898648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Mensagem:     ATAQUE AO AMANHECER</a:t>
            </a:r>
            <a:endParaRPr lang="en-US" sz="14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0B07DB9-E3FC-AC30-1E2F-5FF6E742831E}"/>
              </a:ext>
            </a:extLst>
          </p:cNvPr>
          <p:cNvSpPr/>
          <p:nvPr/>
        </p:nvSpPr>
        <p:spPr>
          <a:xfrm>
            <a:off x="6446520" y="3227832"/>
            <a:ext cx="5102352" cy="420624"/>
          </a:xfrm>
          <a:prstGeom prst="roundRect">
            <a:avLst/>
          </a:prstGeom>
          <a:solidFill>
            <a:srgbClr val="F9F2FA"/>
          </a:solidFill>
          <a:ln w="12700">
            <a:solidFill>
              <a:srgbClr val="DBC3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F1C1E2C-4980-B24B-8470-385D546B4B8F}"/>
              </a:ext>
            </a:extLst>
          </p:cNvPr>
          <p:cNvSpPr/>
          <p:nvPr/>
        </p:nvSpPr>
        <p:spPr>
          <a:xfrm>
            <a:off x="6611112" y="3319272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2A3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Cifrado</a:t>
            </a:r>
            <a:r>
              <a:rPr lang="en-US" sz="1400" dirty="0">
                <a:solidFill>
                  <a:srgbClr val="2A3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k=4:  EXEUYI ES EQERLICIV</a:t>
            </a:r>
            <a:endParaRPr lang="en-US" sz="14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F4F4033-F90A-1485-05DC-60851675D4DC}"/>
              </a:ext>
            </a:extLst>
          </p:cNvPr>
          <p:cNvSpPr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Observação: removi acentos/espaços no exemplo para simplificar.</a:t>
            </a:r>
            <a:endParaRPr lang="en-US" sz="1000" dirty="0"/>
          </a:p>
        </p:txBody>
      </p:sp>
      <p:sp>
        <p:nvSpPr>
          <p:cNvPr id="22" name="CEUB Integrated - title marker">
            <a:extLst>
              <a:ext uri="{FF2B5EF4-FFF2-40B4-BE49-F238E27FC236}">
                <a16:creationId xmlns:a16="http://schemas.microsoft.com/office/drawing/2014/main" id="{A14582BA-6DC5-669E-9B26-C2D49E18470D}"/>
              </a:ext>
            </a:extLst>
          </p:cNvPr>
          <p:cNvSpPr/>
          <p:nvPr/>
        </p:nvSpPr>
        <p:spPr>
          <a:xfrm>
            <a:off x="500380" y="1076960"/>
            <a:ext cx="57150" cy="406400"/>
          </a:xfrm>
          <a:prstGeom prst="rect">
            <a:avLst/>
          </a:prstGeom>
          <a:solidFill>
            <a:srgbClr val="EC008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4" name="CEUB Integrated - top diagonal">
            <a:extLst>
              <a:ext uri="{FF2B5EF4-FFF2-40B4-BE49-F238E27FC236}">
                <a16:creationId xmlns:a16="http://schemas.microsoft.com/office/drawing/2014/main" id="{BC3605C0-2A30-C205-34B0-4080F87011D7}"/>
              </a:ext>
            </a:extLst>
          </p:cNvPr>
          <p:cNvCxnSpPr/>
          <p:nvPr/>
        </p:nvCxnSpPr>
        <p:spPr>
          <a:xfrm>
            <a:off x="9804400" y="0"/>
            <a:ext cx="46990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EUB Integrated - top horizontal">
            <a:extLst>
              <a:ext uri="{FF2B5EF4-FFF2-40B4-BE49-F238E27FC236}">
                <a16:creationId xmlns:a16="http://schemas.microsoft.com/office/drawing/2014/main" id="{84D5E298-E74A-2185-3B60-46283FE8D691}"/>
              </a:ext>
            </a:extLst>
          </p:cNvPr>
          <p:cNvCxnSpPr/>
          <p:nvPr/>
        </p:nvCxnSpPr>
        <p:spPr>
          <a:xfrm>
            <a:off x="10274300" y="520700"/>
            <a:ext cx="1828800" cy="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EUB Integrated - top vertical">
            <a:extLst>
              <a:ext uri="{FF2B5EF4-FFF2-40B4-BE49-F238E27FC236}">
                <a16:creationId xmlns:a16="http://schemas.microsoft.com/office/drawing/2014/main" id="{7B75193A-AF7D-311E-6481-D63C4499DA9B}"/>
              </a:ext>
            </a:extLst>
          </p:cNvPr>
          <p:cNvCxnSpPr/>
          <p:nvPr/>
        </p:nvCxnSpPr>
        <p:spPr>
          <a:xfrm flipV="1">
            <a:off x="12103100" y="0"/>
            <a:ext cx="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EUB Integrated - bottom diagonal">
            <a:extLst>
              <a:ext uri="{FF2B5EF4-FFF2-40B4-BE49-F238E27FC236}">
                <a16:creationId xmlns:a16="http://schemas.microsoft.com/office/drawing/2014/main" id="{9DB10947-CD76-EDD9-C8C4-1B00F2BA22A7}"/>
              </a:ext>
            </a:extLst>
          </p:cNvPr>
          <p:cNvCxnSpPr/>
          <p:nvPr/>
        </p:nvCxnSpPr>
        <p:spPr>
          <a:xfrm>
            <a:off x="0" y="6248400"/>
            <a:ext cx="469900" cy="469900"/>
          </a:xfrm>
          <a:prstGeom prst="line">
            <a:avLst/>
          </a:prstGeom>
          <a:ln w="2794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EUB Integrated - bottom horizontal">
            <a:extLst>
              <a:ext uri="{FF2B5EF4-FFF2-40B4-BE49-F238E27FC236}">
                <a16:creationId xmlns:a16="http://schemas.microsoft.com/office/drawing/2014/main" id="{02BCC094-B5AA-08E0-CFEB-40822A8F813B}"/>
              </a:ext>
            </a:extLst>
          </p:cNvPr>
          <p:cNvCxnSpPr/>
          <p:nvPr/>
        </p:nvCxnSpPr>
        <p:spPr>
          <a:xfrm>
            <a:off x="469900" y="6718300"/>
            <a:ext cx="11722100" cy="0"/>
          </a:xfrm>
          <a:prstGeom prst="line">
            <a:avLst/>
          </a:prstGeom>
          <a:ln w="17780">
            <a:solidFill>
              <a:srgbClr val="4305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CEUB Integrated - logo" descr="CEUB Educação Superior">
            <a:extLst>
              <a:ext uri="{FF2B5EF4-FFF2-40B4-BE49-F238E27FC236}">
                <a16:creationId xmlns:a16="http://schemas.microsoft.com/office/drawing/2014/main" id="{F2D3747C-6D97-11FB-626C-E44090A471E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63500"/>
            <a:ext cx="1193800" cy="545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121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10972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(10 min)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14630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C0089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mão na massa</a:t>
            </a:r>
            <a:endParaRPr lang="en-US" sz="1200" b="1" dirty="0">
              <a:solidFill>
                <a:srgbClr val="EC0089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054E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Em dupla:</a:t>
            </a:r>
            <a:endParaRPr lang="en-US" sz="2400" b="1" dirty="0">
              <a:solidFill>
                <a:srgbClr val="43054E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618488"/>
            <a:ext cx="10972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1) </a:t>
            </a:r>
            <a:r>
              <a:rPr lang="en-US" sz="1800" dirty="0" err="1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Cifre</a:t>
            </a: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</a:t>
            </a: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frase com César (k=7):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◦ </a:t>
            </a:r>
            <a:r>
              <a:rPr lang="en-US" dirty="0" err="1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r>
              <a:rPr lang="en-US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"SEGURANCA E PROCESSO"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2) Troque com a dupla e decifre.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3) Agora tente quebrar sem saber k (força bruta).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◦ dica: só existem 26 chaves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754880"/>
            <a:ext cx="10972800" cy="1600200"/>
          </a:xfrm>
          <a:prstGeom prst="roundRect">
            <a:avLst/>
          </a:prstGeom>
          <a:solidFill>
            <a:srgbClr val="F9F2FA"/>
          </a:solidFill>
          <a:ln w="12700">
            <a:solidFill>
              <a:srgbClr val="DBC3E1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40080" y="4754880"/>
            <a:ext cx="109728" cy="16002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41248" y="491947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Discussão rápida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1248" y="534924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é fácil quebrar? (espaço de chaves pequeno + linguagem reconhecível)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mudaria se a mensagem fosse </a:t>
            </a:r>
            <a:r>
              <a:rPr lang="en-US" sz="1400" dirty="0" err="1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curta</a:t>
            </a: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e/</a:t>
            </a:r>
            <a:r>
              <a:rPr lang="en-US" sz="1400" dirty="0" err="1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aleatória?</a:t>
            </a:r>
            <a:endParaRPr lang="en-US" sz="1400" dirty="0"/>
          </a:p>
        </p:txBody>
      </p:sp>
      <p:sp>
        <p:nvSpPr>
          <p:cNvPr id="13" name="CEUB Integrated - title marker">
            <a:extLst>
              <a:ext uri="{FF2B5EF4-FFF2-40B4-BE49-F238E27FC236}">
                <a16:creationId xmlns:a16="http://schemas.microsoft.com/office/drawing/2014/main" id="{E6475627-30C3-C243-9155-0469304199F5}"/>
              </a:ext>
            </a:extLst>
          </p:cNvPr>
          <p:cNvSpPr/>
          <p:nvPr/>
        </p:nvSpPr>
        <p:spPr>
          <a:xfrm>
            <a:off x="500380" y="1076960"/>
            <a:ext cx="57150" cy="406400"/>
          </a:xfrm>
          <a:prstGeom prst="rect">
            <a:avLst/>
          </a:prstGeom>
          <a:solidFill>
            <a:srgbClr val="EC008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5" name="CEUB Integrated - top diagonal">
            <a:extLst>
              <a:ext uri="{FF2B5EF4-FFF2-40B4-BE49-F238E27FC236}">
                <a16:creationId xmlns:a16="http://schemas.microsoft.com/office/drawing/2014/main" id="{E4F315C4-8580-1D72-9221-E4361AB8528A}"/>
              </a:ext>
            </a:extLst>
          </p:cNvPr>
          <p:cNvCxnSpPr/>
          <p:nvPr/>
        </p:nvCxnSpPr>
        <p:spPr>
          <a:xfrm>
            <a:off x="9804400" y="0"/>
            <a:ext cx="46990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EUB Integrated - top horizontal">
            <a:extLst>
              <a:ext uri="{FF2B5EF4-FFF2-40B4-BE49-F238E27FC236}">
                <a16:creationId xmlns:a16="http://schemas.microsoft.com/office/drawing/2014/main" id="{DE45B4AA-E410-9258-3290-A303FD4E8BC1}"/>
              </a:ext>
            </a:extLst>
          </p:cNvPr>
          <p:cNvCxnSpPr/>
          <p:nvPr/>
        </p:nvCxnSpPr>
        <p:spPr>
          <a:xfrm>
            <a:off x="10274300" y="520700"/>
            <a:ext cx="1828800" cy="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EUB Integrated - top vertical">
            <a:extLst>
              <a:ext uri="{FF2B5EF4-FFF2-40B4-BE49-F238E27FC236}">
                <a16:creationId xmlns:a16="http://schemas.microsoft.com/office/drawing/2014/main" id="{B4A04103-F3FF-BEF5-5914-DB13E95CB128}"/>
              </a:ext>
            </a:extLst>
          </p:cNvPr>
          <p:cNvCxnSpPr/>
          <p:nvPr/>
        </p:nvCxnSpPr>
        <p:spPr>
          <a:xfrm flipV="1">
            <a:off x="12103100" y="0"/>
            <a:ext cx="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EUB Integrated - bottom diagonal">
            <a:extLst>
              <a:ext uri="{FF2B5EF4-FFF2-40B4-BE49-F238E27FC236}">
                <a16:creationId xmlns:a16="http://schemas.microsoft.com/office/drawing/2014/main" id="{84338BCF-F6B4-76A4-C145-D8247CB1C39C}"/>
              </a:ext>
            </a:extLst>
          </p:cNvPr>
          <p:cNvCxnSpPr/>
          <p:nvPr/>
        </p:nvCxnSpPr>
        <p:spPr>
          <a:xfrm>
            <a:off x="0" y="6248400"/>
            <a:ext cx="469900" cy="469900"/>
          </a:xfrm>
          <a:prstGeom prst="line">
            <a:avLst/>
          </a:prstGeom>
          <a:ln w="2794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EUB Integrated - bottom horizontal">
            <a:extLst>
              <a:ext uri="{FF2B5EF4-FFF2-40B4-BE49-F238E27FC236}">
                <a16:creationId xmlns:a16="http://schemas.microsoft.com/office/drawing/2014/main" id="{9EFF3696-42CE-B4F5-4779-3EAFC62295F2}"/>
              </a:ext>
            </a:extLst>
          </p:cNvPr>
          <p:cNvCxnSpPr/>
          <p:nvPr/>
        </p:nvCxnSpPr>
        <p:spPr>
          <a:xfrm>
            <a:off x="469900" y="6718300"/>
            <a:ext cx="11722100" cy="0"/>
          </a:xfrm>
          <a:prstGeom prst="line">
            <a:avLst/>
          </a:prstGeom>
          <a:ln w="17780">
            <a:solidFill>
              <a:srgbClr val="4305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CEUB Integrated - logo" descr="CEUB Educação Superior">
            <a:extLst>
              <a:ext uri="{FF2B5EF4-FFF2-40B4-BE49-F238E27FC236}">
                <a16:creationId xmlns:a16="http://schemas.microsoft.com/office/drawing/2014/main" id="{82B63DE8-D502-0427-07E1-A4F019EF295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63500"/>
            <a:ext cx="1193800" cy="5454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10972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Criptoanálise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14630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C0089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César</a:t>
            </a:r>
            <a:endParaRPr lang="en-US" sz="1200" b="1" dirty="0">
              <a:solidFill>
                <a:srgbClr val="EC0089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054E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Ataques típicos:</a:t>
            </a:r>
            <a:endParaRPr lang="en-US" sz="2400" b="1" dirty="0">
              <a:solidFill>
                <a:srgbClr val="43054E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618488"/>
            <a:ext cx="5943600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Força bruta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◦ testar k=0..25 e escolher o texto legível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Conhecido-plaintext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◦ se você sabe que começa com “OLA”...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Pistas de formato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◦ datas, nomes, “HTTP”, “CPF”, etc.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46520" y="1051560"/>
            <a:ext cx="5102352" cy="5440680"/>
          </a:xfrm>
          <a:prstGeom prst="roundRect">
            <a:avLst/>
          </a:prstGeom>
          <a:solidFill>
            <a:srgbClr val="F9F2FA"/>
          </a:solidFill>
          <a:ln w="12700">
            <a:solidFill>
              <a:srgbClr val="DBC3E1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446520" y="1051560"/>
            <a:ext cx="109728" cy="54406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647688" y="1216152"/>
            <a:ext cx="4736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curta é “mais segura”?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47688" y="1645920"/>
            <a:ext cx="4736592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necessariamente: pode ficar mais difícil escolher a opção </a:t>
            </a:r>
            <a:r>
              <a:rPr lang="en-US" sz="1400" dirty="0" err="1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</a:t>
            </a: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mas continua quebrável por tentativa.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real vem de: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chaves grandes • algoritmos robustos • boa implementação</a:t>
            </a:r>
            <a:endParaRPr lang="en-US" sz="1400" dirty="0"/>
          </a:p>
        </p:txBody>
      </p:sp>
      <p:sp>
        <p:nvSpPr>
          <p:cNvPr id="13" name="CEUB Integrated - title marker">
            <a:extLst>
              <a:ext uri="{FF2B5EF4-FFF2-40B4-BE49-F238E27FC236}">
                <a16:creationId xmlns:a16="http://schemas.microsoft.com/office/drawing/2014/main" id="{CFBC704C-B084-3499-64ED-93C0D95BB8F9}"/>
              </a:ext>
            </a:extLst>
          </p:cNvPr>
          <p:cNvSpPr/>
          <p:nvPr/>
        </p:nvSpPr>
        <p:spPr>
          <a:xfrm>
            <a:off x="500380" y="1076960"/>
            <a:ext cx="57150" cy="406400"/>
          </a:xfrm>
          <a:prstGeom prst="rect">
            <a:avLst/>
          </a:prstGeom>
          <a:solidFill>
            <a:srgbClr val="EC008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5" name="CEUB Integrated - top diagonal">
            <a:extLst>
              <a:ext uri="{FF2B5EF4-FFF2-40B4-BE49-F238E27FC236}">
                <a16:creationId xmlns:a16="http://schemas.microsoft.com/office/drawing/2014/main" id="{B71CBA72-05F6-0B6C-6C67-81710D839F43}"/>
              </a:ext>
            </a:extLst>
          </p:cNvPr>
          <p:cNvCxnSpPr/>
          <p:nvPr/>
        </p:nvCxnSpPr>
        <p:spPr>
          <a:xfrm>
            <a:off x="9804400" y="0"/>
            <a:ext cx="46990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EUB Integrated - top horizontal">
            <a:extLst>
              <a:ext uri="{FF2B5EF4-FFF2-40B4-BE49-F238E27FC236}">
                <a16:creationId xmlns:a16="http://schemas.microsoft.com/office/drawing/2014/main" id="{6B1414FB-3776-0049-7E0E-93481D1FC38F}"/>
              </a:ext>
            </a:extLst>
          </p:cNvPr>
          <p:cNvCxnSpPr/>
          <p:nvPr/>
        </p:nvCxnSpPr>
        <p:spPr>
          <a:xfrm>
            <a:off x="10274300" y="520700"/>
            <a:ext cx="1828800" cy="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EUB Integrated - top vertical">
            <a:extLst>
              <a:ext uri="{FF2B5EF4-FFF2-40B4-BE49-F238E27FC236}">
                <a16:creationId xmlns:a16="http://schemas.microsoft.com/office/drawing/2014/main" id="{96A81617-CABC-924D-6481-4BC97858BC63}"/>
              </a:ext>
            </a:extLst>
          </p:cNvPr>
          <p:cNvCxnSpPr/>
          <p:nvPr/>
        </p:nvCxnSpPr>
        <p:spPr>
          <a:xfrm flipV="1">
            <a:off x="12103100" y="0"/>
            <a:ext cx="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EUB Integrated - bottom diagonal">
            <a:extLst>
              <a:ext uri="{FF2B5EF4-FFF2-40B4-BE49-F238E27FC236}">
                <a16:creationId xmlns:a16="http://schemas.microsoft.com/office/drawing/2014/main" id="{FEF297F6-9DFD-7915-39A8-F37C0201A06C}"/>
              </a:ext>
            </a:extLst>
          </p:cNvPr>
          <p:cNvCxnSpPr/>
          <p:nvPr/>
        </p:nvCxnSpPr>
        <p:spPr>
          <a:xfrm>
            <a:off x="0" y="6248400"/>
            <a:ext cx="469900" cy="469900"/>
          </a:xfrm>
          <a:prstGeom prst="line">
            <a:avLst/>
          </a:prstGeom>
          <a:ln w="2794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EUB Integrated - bottom horizontal">
            <a:extLst>
              <a:ext uri="{FF2B5EF4-FFF2-40B4-BE49-F238E27FC236}">
                <a16:creationId xmlns:a16="http://schemas.microsoft.com/office/drawing/2014/main" id="{A42828D3-6B9D-DE3A-17D4-295655982462}"/>
              </a:ext>
            </a:extLst>
          </p:cNvPr>
          <p:cNvCxnSpPr/>
          <p:nvPr/>
        </p:nvCxnSpPr>
        <p:spPr>
          <a:xfrm>
            <a:off x="469900" y="6718300"/>
            <a:ext cx="11722100" cy="0"/>
          </a:xfrm>
          <a:prstGeom prst="line">
            <a:avLst/>
          </a:prstGeom>
          <a:ln w="17780">
            <a:solidFill>
              <a:srgbClr val="4305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CEUB Integrated - logo" descr="CEUB Educação Superior">
            <a:extLst>
              <a:ext uri="{FF2B5EF4-FFF2-40B4-BE49-F238E27FC236}">
                <a16:creationId xmlns:a16="http://schemas.microsoft.com/office/drawing/2014/main" id="{53E1E8E1-78B5-4EEE-6696-DFCBAE37CCE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63500"/>
            <a:ext cx="1193800" cy="5454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10972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3054E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Variações</a:t>
            </a:r>
            <a:endParaRPr lang="en-US" sz="2000" b="1" dirty="0">
              <a:solidFill>
                <a:srgbClr val="43054E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686800" y="14630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C0089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ainda é substituição simples</a:t>
            </a:r>
            <a:endParaRPr lang="en-US" sz="1200" b="1" dirty="0">
              <a:solidFill>
                <a:srgbClr val="EC0089"/>
              </a:solidFill>
              <a:latin typeface="Aptos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5440680" cy="2331720"/>
          </a:xfrm>
          <a:prstGeom prst="roundRect">
            <a:avLst/>
          </a:prstGeom>
          <a:solidFill>
            <a:srgbClr val="F9F2FA"/>
          </a:solidFill>
          <a:ln w="12700">
            <a:solidFill>
              <a:srgbClr val="DBC3E1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109728" cy="233172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41248" y="121615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ROT13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1645920"/>
            <a:ext cx="50749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César com k=13.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duas vezes volta ao original.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como “ofuscação” (não segurança).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5440680" cy="2880360"/>
          </a:xfrm>
          <a:prstGeom prst="roundRect">
            <a:avLst/>
          </a:prstGeom>
          <a:solidFill>
            <a:srgbClr val="F9F2FA"/>
          </a:solidFill>
          <a:ln w="12700">
            <a:solidFill>
              <a:srgbClr val="DBC3E1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109728" cy="2880360"/>
          </a:xfrm>
          <a:prstGeom prst="rect">
            <a:avLst/>
          </a:prstGeom>
          <a:solidFill>
            <a:srgbClr val="D81B60"/>
          </a:solidFill>
          <a:ln w="12700">
            <a:solidFill>
              <a:srgbClr val="D81B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41248" y="377647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Atbash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4206240"/>
            <a:ext cx="50749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espelho: A↔Z, B↔Y, C↔X…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fixa (0 segredo) → quebra imediata.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para entender a ideia de substituição.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46520" y="1051560"/>
            <a:ext cx="5102352" cy="5440680"/>
          </a:xfrm>
          <a:prstGeom prst="roundRect">
            <a:avLst/>
          </a:prstGeom>
          <a:solidFill>
            <a:srgbClr val="F9F2FA"/>
          </a:solidFill>
          <a:ln w="12700">
            <a:solidFill>
              <a:srgbClr val="DBC3E1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446520" y="1051560"/>
            <a:ext cx="109728" cy="54406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647688" y="1216152"/>
            <a:ext cx="4736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importante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47688" y="1645920"/>
            <a:ext cx="4736592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chave for fixa ou pequena,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atacante testa tudo.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“Parece embaralhado” não é sinônimo de seguro.</a:t>
            </a:r>
            <a:endParaRPr lang="en-US" sz="1400" dirty="0"/>
          </a:p>
        </p:txBody>
      </p:sp>
      <p:sp>
        <p:nvSpPr>
          <p:cNvPr id="19" name="CEUB Integrated - title marker">
            <a:extLst>
              <a:ext uri="{FF2B5EF4-FFF2-40B4-BE49-F238E27FC236}">
                <a16:creationId xmlns:a16="http://schemas.microsoft.com/office/drawing/2014/main" id="{875C0A8F-8745-E5DD-7823-8A73493B4AEA}"/>
              </a:ext>
            </a:extLst>
          </p:cNvPr>
          <p:cNvSpPr/>
          <p:nvPr/>
        </p:nvSpPr>
        <p:spPr>
          <a:xfrm>
            <a:off x="500380" y="135128"/>
            <a:ext cx="57150" cy="406400"/>
          </a:xfrm>
          <a:prstGeom prst="rect">
            <a:avLst/>
          </a:prstGeom>
          <a:solidFill>
            <a:srgbClr val="EC008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1" name="CEUB Integrated - top diagonal">
            <a:extLst>
              <a:ext uri="{FF2B5EF4-FFF2-40B4-BE49-F238E27FC236}">
                <a16:creationId xmlns:a16="http://schemas.microsoft.com/office/drawing/2014/main" id="{679E62B7-2083-4084-5DE9-75336293C5A5}"/>
              </a:ext>
            </a:extLst>
          </p:cNvPr>
          <p:cNvCxnSpPr/>
          <p:nvPr/>
        </p:nvCxnSpPr>
        <p:spPr>
          <a:xfrm>
            <a:off x="9804400" y="0"/>
            <a:ext cx="46990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EUB Integrated - top horizontal">
            <a:extLst>
              <a:ext uri="{FF2B5EF4-FFF2-40B4-BE49-F238E27FC236}">
                <a16:creationId xmlns:a16="http://schemas.microsoft.com/office/drawing/2014/main" id="{277EAFBB-47C3-C39F-4E40-A7B5843724FC}"/>
              </a:ext>
            </a:extLst>
          </p:cNvPr>
          <p:cNvCxnSpPr/>
          <p:nvPr/>
        </p:nvCxnSpPr>
        <p:spPr>
          <a:xfrm>
            <a:off x="10274300" y="520700"/>
            <a:ext cx="1828800" cy="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EUB Integrated - top vertical">
            <a:extLst>
              <a:ext uri="{FF2B5EF4-FFF2-40B4-BE49-F238E27FC236}">
                <a16:creationId xmlns:a16="http://schemas.microsoft.com/office/drawing/2014/main" id="{32C46E7D-C36A-EEF3-8201-5AA23A7708F2}"/>
              </a:ext>
            </a:extLst>
          </p:cNvPr>
          <p:cNvCxnSpPr/>
          <p:nvPr/>
        </p:nvCxnSpPr>
        <p:spPr>
          <a:xfrm flipV="1">
            <a:off x="12103100" y="0"/>
            <a:ext cx="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EUB Integrated - bottom diagonal">
            <a:extLst>
              <a:ext uri="{FF2B5EF4-FFF2-40B4-BE49-F238E27FC236}">
                <a16:creationId xmlns:a16="http://schemas.microsoft.com/office/drawing/2014/main" id="{790EBF04-6A1F-7098-5D14-DA3C2A78BA65}"/>
              </a:ext>
            </a:extLst>
          </p:cNvPr>
          <p:cNvCxnSpPr/>
          <p:nvPr/>
        </p:nvCxnSpPr>
        <p:spPr>
          <a:xfrm>
            <a:off x="0" y="6248400"/>
            <a:ext cx="469900" cy="469900"/>
          </a:xfrm>
          <a:prstGeom prst="line">
            <a:avLst/>
          </a:prstGeom>
          <a:ln w="2794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EUB Integrated - bottom horizontal">
            <a:extLst>
              <a:ext uri="{FF2B5EF4-FFF2-40B4-BE49-F238E27FC236}">
                <a16:creationId xmlns:a16="http://schemas.microsoft.com/office/drawing/2014/main" id="{1750149A-8B1D-92D9-20B1-27EEE49614E0}"/>
              </a:ext>
            </a:extLst>
          </p:cNvPr>
          <p:cNvCxnSpPr/>
          <p:nvPr/>
        </p:nvCxnSpPr>
        <p:spPr>
          <a:xfrm>
            <a:off x="469900" y="6718300"/>
            <a:ext cx="11722100" cy="0"/>
          </a:xfrm>
          <a:prstGeom prst="line">
            <a:avLst/>
          </a:prstGeom>
          <a:ln w="17780">
            <a:solidFill>
              <a:srgbClr val="4305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CEUB Integrated - logo" descr="CEUB Educação Superior">
            <a:extLst>
              <a:ext uri="{FF2B5EF4-FFF2-40B4-BE49-F238E27FC236}">
                <a16:creationId xmlns:a16="http://schemas.microsoft.com/office/drawing/2014/main" id="{B66A0379-9D5E-CA8B-6111-CDE1EA55D3E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63500"/>
            <a:ext cx="1193800" cy="54549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10972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Substituição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14630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C0089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monoalfabética</a:t>
            </a:r>
            <a:endParaRPr lang="en-US" sz="1200" b="1" dirty="0">
              <a:solidFill>
                <a:srgbClr val="EC0089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054E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Definição:</a:t>
            </a:r>
            <a:endParaRPr lang="en-US" sz="2400" b="1" dirty="0">
              <a:solidFill>
                <a:srgbClr val="43054E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618488"/>
            <a:ext cx="576072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Uma permutação do alfabeto define a chave.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Ex.: A→Q, B→W, C→E, ... (cada letra vira outra).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Espaço de chaves é enorme (26!).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46520" y="1051560"/>
            <a:ext cx="5102352" cy="5440680"/>
          </a:xfrm>
          <a:prstGeom prst="roundRect">
            <a:avLst/>
          </a:prstGeom>
          <a:solidFill>
            <a:srgbClr val="F9F2FA"/>
          </a:solidFill>
          <a:ln w="12700">
            <a:solidFill>
              <a:srgbClr val="DBC3E1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446520" y="1051560"/>
            <a:ext cx="109728" cy="54406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647688" y="1216152"/>
            <a:ext cx="4736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Então é segura?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47688" y="1645920"/>
            <a:ext cx="4736592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Não, porque padrões de frequência permanecem.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Português tem letras muito comuns (A, E, O, S...).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Ataque: análise de frequência + tentativas guiadas.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seja: chave grande não basta — o esquema precisa esconder padrões.</a:t>
            </a:r>
            <a:endParaRPr lang="en-US" sz="1400" dirty="0"/>
          </a:p>
        </p:txBody>
      </p:sp>
      <p:sp>
        <p:nvSpPr>
          <p:cNvPr id="13" name="CEUB Integrated - title marker">
            <a:extLst>
              <a:ext uri="{FF2B5EF4-FFF2-40B4-BE49-F238E27FC236}">
                <a16:creationId xmlns:a16="http://schemas.microsoft.com/office/drawing/2014/main" id="{0C8D8724-139B-3A90-270E-0E849A3DEA73}"/>
              </a:ext>
            </a:extLst>
          </p:cNvPr>
          <p:cNvSpPr/>
          <p:nvPr/>
        </p:nvSpPr>
        <p:spPr>
          <a:xfrm>
            <a:off x="500380" y="1076960"/>
            <a:ext cx="57150" cy="406400"/>
          </a:xfrm>
          <a:prstGeom prst="rect">
            <a:avLst/>
          </a:prstGeom>
          <a:solidFill>
            <a:srgbClr val="EC008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5" name="CEUB Integrated - top diagonal">
            <a:extLst>
              <a:ext uri="{FF2B5EF4-FFF2-40B4-BE49-F238E27FC236}">
                <a16:creationId xmlns:a16="http://schemas.microsoft.com/office/drawing/2014/main" id="{CDA8C11B-9906-A73A-15D1-244E53EB1D38}"/>
              </a:ext>
            </a:extLst>
          </p:cNvPr>
          <p:cNvCxnSpPr/>
          <p:nvPr/>
        </p:nvCxnSpPr>
        <p:spPr>
          <a:xfrm>
            <a:off x="9804400" y="0"/>
            <a:ext cx="46990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EUB Integrated - top horizontal">
            <a:extLst>
              <a:ext uri="{FF2B5EF4-FFF2-40B4-BE49-F238E27FC236}">
                <a16:creationId xmlns:a16="http://schemas.microsoft.com/office/drawing/2014/main" id="{904411EA-AFA9-A9CB-ABF4-80C677939C93}"/>
              </a:ext>
            </a:extLst>
          </p:cNvPr>
          <p:cNvCxnSpPr/>
          <p:nvPr/>
        </p:nvCxnSpPr>
        <p:spPr>
          <a:xfrm>
            <a:off x="10274300" y="520700"/>
            <a:ext cx="1828800" cy="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EUB Integrated - top vertical">
            <a:extLst>
              <a:ext uri="{FF2B5EF4-FFF2-40B4-BE49-F238E27FC236}">
                <a16:creationId xmlns:a16="http://schemas.microsoft.com/office/drawing/2014/main" id="{AE6B497A-A1C8-923A-942A-2B9ABED85A8B}"/>
              </a:ext>
            </a:extLst>
          </p:cNvPr>
          <p:cNvCxnSpPr/>
          <p:nvPr/>
        </p:nvCxnSpPr>
        <p:spPr>
          <a:xfrm flipV="1">
            <a:off x="12103100" y="0"/>
            <a:ext cx="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EUB Integrated - bottom diagonal">
            <a:extLst>
              <a:ext uri="{FF2B5EF4-FFF2-40B4-BE49-F238E27FC236}">
                <a16:creationId xmlns:a16="http://schemas.microsoft.com/office/drawing/2014/main" id="{530D189F-E113-80C3-F4FD-3BD2746718C9}"/>
              </a:ext>
            </a:extLst>
          </p:cNvPr>
          <p:cNvCxnSpPr/>
          <p:nvPr/>
        </p:nvCxnSpPr>
        <p:spPr>
          <a:xfrm>
            <a:off x="0" y="6248400"/>
            <a:ext cx="469900" cy="469900"/>
          </a:xfrm>
          <a:prstGeom prst="line">
            <a:avLst/>
          </a:prstGeom>
          <a:ln w="2794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EUB Integrated - bottom horizontal">
            <a:extLst>
              <a:ext uri="{FF2B5EF4-FFF2-40B4-BE49-F238E27FC236}">
                <a16:creationId xmlns:a16="http://schemas.microsoft.com/office/drawing/2014/main" id="{002E8314-126B-EE66-F7F5-42DD5563FE18}"/>
              </a:ext>
            </a:extLst>
          </p:cNvPr>
          <p:cNvCxnSpPr/>
          <p:nvPr/>
        </p:nvCxnSpPr>
        <p:spPr>
          <a:xfrm>
            <a:off x="469900" y="6718300"/>
            <a:ext cx="11722100" cy="0"/>
          </a:xfrm>
          <a:prstGeom prst="line">
            <a:avLst/>
          </a:prstGeom>
          <a:ln w="17780">
            <a:solidFill>
              <a:srgbClr val="4305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CEUB Integrated - logo" descr="CEUB Educação Superior">
            <a:extLst>
              <a:ext uri="{FF2B5EF4-FFF2-40B4-BE49-F238E27FC236}">
                <a16:creationId xmlns:a16="http://schemas.microsoft.com/office/drawing/2014/main" id="{3A966F0B-D87C-9886-EFA4-5CB8C5B3FA97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63500"/>
            <a:ext cx="1193800" cy="54549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10972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Criptoanálise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14630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C0089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frequência</a:t>
            </a:r>
            <a:endParaRPr lang="en-US" sz="1200" b="1" dirty="0">
              <a:solidFill>
                <a:srgbClr val="EC0089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054E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Ideia:</a:t>
            </a:r>
            <a:endParaRPr lang="en-US" sz="2400" b="1" dirty="0">
              <a:solidFill>
                <a:srgbClr val="43054E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618488"/>
            <a:ext cx="576072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 quantas vezes cada letra aparece no ciphertext.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Compare com o perfil típico da língua.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Comece por palavras curtas ("A", "E", "O") e padrões.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46520" y="1051560"/>
            <a:ext cx="5102352" cy="2148840"/>
          </a:xfrm>
          <a:prstGeom prst="roundRect">
            <a:avLst/>
          </a:prstGeom>
          <a:solidFill>
            <a:srgbClr val="F9F2FA"/>
          </a:solidFill>
          <a:ln w="12700">
            <a:solidFill>
              <a:srgbClr val="DBC3E1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446520" y="1051560"/>
            <a:ext cx="109728" cy="214884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647688" y="1216152"/>
            <a:ext cx="4736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úteis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47688" y="1645920"/>
            <a:ext cx="473659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Repetições: “AAAA” vira “QQQQ”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Dígrafos: “DE”, “OS”, “AS”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Estrutura: _A_ , _E_ etc.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46520" y="3429000"/>
            <a:ext cx="5102352" cy="3063240"/>
          </a:xfrm>
          <a:prstGeom prst="roundRect">
            <a:avLst/>
          </a:prstGeom>
          <a:solidFill>
            <a:srgbClr val="F9F2FA"/>
          </a:solidFill>
          <a:ln w="12700">
            <a:solidFill>
              <a:srgbClr val="DBC3E1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6446520" y="3429000"/>
            <a:ext cx="109728" cy="3063240"/>
          </a:xfrm>
          <a:prstGeom prst="rect">
            <a:avLst/>
          </a:prstGeom>
          <a:solidFill>
            <a:srgbClr val="D81B60"/>
          </a:solidFill>
          <a:ln w="12700">
            <a:solidFill>
              <a:srgbClr val="D81B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647688" y="3593592"/>
            <a:ext cx="4736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47688" y="4023360"/>
            <a:ext cx="4736592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Textos curtos atrapalham a estatística.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com texto suficiente, quebra é prática.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automatizam esse processo.</a:t>
            </a:r>
            <a:endParaRPr lang="en-US" sz="1400" dirty="0"/>
          </a:p>
        </p:txBody>
      </p:sp>
      <p:sp>
        <p:nvSpPr>
          <p:cNvPr id="17" name="CEUB Integrated - title marker">
            <a:extLst>
              <a:ext uri="{FF2B5EF4-FFF2-40B4-BE49-F238E27FC236}">
                <a16:creationId xmlns:a16="http://schemas.microsoft.com/office/drawing/2014/main" id="{B4522734-2D2B-3A98-2549-707FCBC80071}"/>
              </a:ext>
            </a:extLst>
          </p:cNvPr>
          <p:cNvSpPr/>
          <p:nvPr/>
        </p:nvSpPr>
        <p:spPr>
          <a:xfrm>
            <a:off x="500380" y="1076960"/>
            <a:ext cx="57150" cy="406400"/>
          </a:xfrm>
          <a:prstGeom prst="rect">
            <a:avLst/>
          </a:prstGeom>
          <a:solidFill>
            <a:srgbClr val="EC008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EUB Integrated - top diagonal">
            <a:extLst>
              <a:ext uri="{FF2B5EF4-FFF2-40B4-BE49-F238E27FC236}">
                <a16:creationId xmlns:a16="http://schemas.microsoft.com/office/drawing/2014/main" id="{14B99227-E0D0-C707-709E-6E3300564D3D}"/>
              </a:ext>
            </a:extLst>
          </p:cNvPr>
          <p:cNvCxnSpPr/>
          <p:nvPr/>
        </p:nvCxnSpPr>
        <p:spPr>
          <a:xfrm>
            <a:off x="9804400" y="0"/>
            <a:ext cx="46990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EUB Integrated - top horizontal">
            <a:extLst>
              <a:ext uri="{FF2B5EF4-FFF2-40B4-BE49-F238E27FC236}">
                <a16:creationId xmlns:a16="http://schemas.microsoft.com/office/drawing/2014/main" id="{21EBD6A4-BAFC-2AEB-85D7-2C8A74153540}"/>
              </a:ext>
            </a:extLst>
          </p:cNvPr>
          <p:cNvCxnSpPr/>
          <p:nvPr/>
        </p:nvCxnSpPr>
        <p:spPr>
          <a:xfrm>
            <a:off x="10274300" y="520700"/>
            <a:ext cx="1828800" cy="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EUB Integrated - top vertical">
            <a:extLst>
              <a:ext uri="{FF2B5EF4-FFF2-40B4-BE49-F238E27FC236}">
                <a16:creationId xmlns:a16="http://schemas.microsoft.com/office/drawing/2014/main" id="{8821E177-12F7-0309-AA8F-0A90E187BC95}"/>
              </a:ext>
            </a:extLst>
          </p:cNvPr>
          <p:cNvCxnSpPr/>
          <p:nvPr/>
        </p:nvCxnSpPr>
        <p:spPr>
          <a:xfrm flipV="1">
            <a:off x="12103100" y="0"/>
            <a:ext cx="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EUB Integrated - bottom diagonal">
            <a:extLst>
              <a:ext uri="{FF2B5EF4-FFF2-40B4-BE49-F238E27FC236}">
                <a16:creationId xmlns:a16="http://schemas.microsoft.com/office/drawing/2014/main" id="{19B07AD6-F420-3ECB-A694-C241ACB9DFC0}"/>
              </a:ext>
            </a:extLst>
          </p:cNvPr>
          <p:cNvCxnSpPr/>
          <p:nvPr/>
        </p:nvCxnSpPr>
        <p:spPr>
          <a:xfrm>
            <a:off x="0" y="6248400"/>
            <a:ext cx="469900" cy="469900"/>
          </a:xfrm>
          <a:prstGeom prst="line">
            <a:avLst/>
          </a:prstGeom>
          <a:ln w="2794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EUB Integrated - bottom horizontal">
            <a:extLst>
              <a:ext uri="{FF2B5EF4-FFF2-40B4-BE49-F238E27FC236}">
                <a16:creationId xmlns:a16="http://schemas.microsoft.com/office/drawing/2014/main" id="{E470753D-DB29-A449-4664-EFDDE593253B}"/>
              </a:ext>
            </a:extLst>
          </p:cNvPr>
          <p:cNvCxnSpPr/>
          <p:nvPr/>
        </p:nvCxnSpPr>
        <p:spPr>
          <a:xfrm>
            <a:off x="469900" y="6718300"/>
            <a:ext cx="11722100" cy="0"/>
          </a:xfrm>
          <a:prstGeom prst="line">
            <a:avLst/>
          </a:prstGeom>
          <a:ln w="17780">
            <a:solidFill>
              <a:srgbClr val="4305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CEUB Integrated - logo" descr="CEUB Educação Superior">
            <a:extLst>
              <a:ext uri="{FF2B5EF4-FFF2-40B4-BE49-F238E27FC236}">
                <a16:creationId xmlns:a16="http://schemas.microsoft.com/office/drawing/2014/main" id="{EC68EA0F-E842-6C92-505C-35C7816A5ED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63500"/>
            <a:ext cx="1193800" cy="54549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10972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(15 min)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14630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C0089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quebrando substituição</a:t>
            </a:r>
            <a:endParaRPr lang="en-US" sz="1200" b="1" dirty="0">
              <a:solidFill>
                <a:srgbClr val="EC0089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054E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Tente decifrar (dica: comece pela letra mais frequente):</a:t>
            </a:r>
            <a:endParaRPr lang="en-US" sz="2400" b="1" dirty="0">
              <a:solidFill>
                <a:srgbClr val="43054E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618488"/>
            <a:ext cx="10972800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Ciphertext: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◦ LTUXKQFEQ T XD HKGETLLG, FQG XD HKGRXZG.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Passos: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◦ 1) conte frequências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◦ 2) tente mapear uma letra comum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◦ 3) refine pelos padrões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curto de propósito: use hipóteses e teste rapidamente.</a:t>
            </a:r>
            <a:endParaRPr lang="en-US" sz="1000" dirty="0"/>
          </a:p>
        </p:txBody>
      </p:sp>
      <p:sp>
        <p:nvSpPr>
          <p:cNvPr id="10" name="CEUB Integrated - title marker">
            <a:extLst>
              <a:ext uri="{FF2B5EF4-FFF2-40B4-BE49-F238E27FC236}">
                <a16:creationId xmlns:a16="http://schemas.microsoft.com/office/drawing/2014/main" id="{EA354D8A-A0D2-1CEA-905B-8457ACC577A2}"/>
              </a:ext>
            </a:extLst>
          </p:cNvPr>
          <p:cNvSpPr/>
          <p:nvPr/>
        </p:nvSpPr>
        <p:spPr>
          <a:xfrm>
            <a:off x="500380" y="1076960"/>
            <a:ext cx="57150" cy="406400"/>
          </a:xfrm>
          <a:prstGeom prst="rect">
            <a:avLst/>
          </a:prstGeom>
          <a:solidFill>
            <a:srgbClr val="EC008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EUB Integrated - top diagonal">
            <a:extLst>
              <a:ext uri="{FF2B5EF4-FFF2-40B4-BE49-F238E27FC236}">
                <a16:creationId xmlns:a16="http://schemas.microsoft.com/office/drawing/2014/main" id="{9EE112C5-1D9D-0111-8F89-20E3007CE0FF}"/>
              </a:ext>
            </a:extLst>
          </p:cNvPr>
          <p:cNvCxnSpPr/>
          <p:nvPr/>
        </p:nvCxnSpPr>
        <p:spPr>
          <a:xfrm>
            <a:off x="9804400" y="0"/>
            <a:ext cx="46990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EUB Integrated - top horizontal">
            <a:extLst>
              <a:ext uri="{FF2B5EF4-FFF2-40B4-BE49-F238E27FC236}">
                <a16:creationId xmlns:a16="http://schemas.microsoft.com/office/drawing/2014/main" id="{B0FF6FDF-EE33-DE9C-BADF-D0240022A2E3}"/>
              </a:ext>
            </a:extLst>
          </p:cNvPr>
          <p:cNvCxnSpPr/>
          <p:nvPr/>
        </p:nvCxnSpPr>
        <p:spPr>
          <a:xfrm>
            <a:off x="10274300" y="520700"/>
            <a:ext cx="1828800" cy="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EUB Integrated - top vertical">
            <a:extLst>
              <a:ext uri="{FF2B5EF4-FFF2-40B4-BE49-F238E27FC236}">
                <a16:creationId xmlns:a16="http://schemas.microsoft.com/office/drawing/2014/main" id="{5440F9E9-3DF0-F83E-9C38-5BA95468EF74}"/>
              </a:ext>
            </a:extLst>
          </p:cNvPr>
          <p:cNvCxnSpPr/>
          <p:nvPr/>
        </p:nvCxnSpPr>
        <p:spPr>
          <a:xfrm flipV="1">
            <a:off x="12103100" y="0"/>
            <a:ext cx="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EUB Integrated - bottom diagonal">
            <a:extLst>
              <a:ext uri="{FF2B5EF4-FFF2-40B4-BE49-F238E27FC236}">
                <a16:creationId xmlns:a16="http://schemas.microsoft.com/office/drawing/2014/main" id="{0693AEE9-126F-875D-DF0C-DEC31B5442F0}"/>
              </a:ext>
            </a:extLst>
          </p:cNvPr>
          <p:cNvCxnSpPr/>
          <p:nvPr/>
        </p:nvCxnSpPr>
        <p:spPr>
          <a:xfrm>
            <a:off x="0" y="6248400"/>
            <a:ext cx="469900" cy="469900"/>
          </a:xfrm>
          <a:prstGeom prst="line">
            <a:avLst/>
          </a:prstGeom>
          <a:ln w="2794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EUB Integrated - bottom horizontal">
            <a:extLst>
              <a:ext uri="{FF2B5EF4-FFF2-40B4-BE49-F238E27FC236}">
                <a16:creationId xmlns:a16="http://schemas.microsoft.com/office/drawing/2014/main" id="{D7F08F18-1459-D518-1A2C-367756F80D44}"/>
              </a:ext>
            </a:extLst>
          </p:cNvPr>
          <p:cNvCxnSpPr/>
          <p:nvPr/>
        </p:nvCxnSpPr>
        <p:spPr>
          <a:xfrm>
            <a:off x="469900" y="6718300"/>
            <a:ext cx="11722100" cy="0"/>
          </a:xfrm>
          <a:prstGeom prst="line">
            <a:avLst/>
          </a:prstGeom>
          <a:ln w="17780">
            <a:solidFill>
              <a:srgbClr val="4305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CEUB Integrated - logo" descr="CEUB Educação Superior">
            <a:extLst>
              <a:ext uri="{FF2B5EF4-FFF2-40B4-BE49-F238E27FC236}">
                <a16:creationId xmlns:a16="http://schemas.microsoft.com/office/drawing/2014/main" id="{4A7A8B98-F27F-4FAA-3176-50B2AF0AE8C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63500"/>
            <a:ext cx="1193800" cy="54549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DE100B-6E74-8B78-B65B-465868988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8965601-351A-AF58-4079-F743A4BE7009}"/>
              </a:ext>
            </a:extLst>
          </p:cNvPr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08FC311-A714-7579-9094-C96B72AF112E}"/>
              </a:ext>
            </a:extLst>
          </p:cNvPr>
          <p:cNvSpPr/>
          <p:nvPr/>
        </p:nvSpPr>
        <p:spPr>
          <a:xfrm>
            <a:off x="640080" y="10972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(15 min)</a:t>
            </a:r>
            <a:endParaRPr lang="en-US" sz="2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C9351D9-0DD6-B070-A44E-50D905D96C43}"/>
              </a:ext>
            </a:extLst>
          </p:cNvPr>
          <p:cNvSpPr/>
          <p:nvPr/>
        </p:nvSpPr>
        <p:spPr>
          <a:xfrm>
            <a:off x="8686800" y="14630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C0089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quebrando substituição</a:t>
            </a:r>
            <a:endParaRPr lang="en-US" sz="1200" b="1" dirty="0">
              <a:solidFill>
                <a:srgbClr val="EC0089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64451E9-A255-F2A9-EB93-8FCA873E915E}"/>
              </a:ext>
            </a:extLst>
          </p:cNvPr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054E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Tente decifrar (dica: comece pela letra mais frequente):</a:t>
            </a:r>
            <a:endParaRPr lang="en-US" sz="2400" b="1" dirty="0">
              <a:solidFill>
                <a:srgbClr val="43054E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40D1B7A-EEB9-F3B2-E227-C362000FA57E}"/>
              </a:ext>
            </a:extLst>
          </p:cNvPr>
          <p:cNvSpPr/>
          <p:nvPr/>
        </p:nvSpPr>
        <p:spPr>
          <a:xfrm>
            <a:off x="640080" y="1618488"/>
            <a:ext cx="10972800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Ciphertext: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◦ LTUXKQFEQ T XD HKGETLLG, FQG XD HKGRXZG.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Passos: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◦ 1) conte frequências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◦ 2) tente mapear uma letra comum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◦ 3) refine </a:t>
            </a:r>
            <a:r>
              <a:rPr lang="en-US" sz="1800" dirty="0" err="1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pelos</a:t>
            </a: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</a:t>
            </a:r>
            <a:b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800" dirty="0" err="1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</a:t>
            </a: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pt-BR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É UM PROCESSO, NÃO UM PRODUTO.</a:t>
            </a:r>
            <a:endParaRPr lang="en-US" sz="1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581D479-17D7-5735-3BA7-B731BB61C0C3}"/>
              </a:ext>
            </a:extLst>
          </p:cNvPr>
          <p:cNvSpPr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curto de propósito: use hipóteses e teste rapidamente.</a:t>
            </a:r>
            <a:endParaRPr lang="en-US" sz="1000" dirty="0"/>
          </a:p>
        </p:txBody>
      </p:sp>
      <p:sp>
        <p:nvSpPr>
          <p:cNvPr id="10" name="CEUB Integrated - title marker">
            <a:extLst>
              <a:ext uri="{FF2B5EF4-FFF2-40B4-BE49-F238E27FC236}">
                <a16:creationId xmlns:a16="http://schemas.microsoft.com/office/drawing/2014/main" id="{67B03204-7F15-B24E-A1A4-20BCB831A13C}"/>
              </a:ext>
            </a:extLst>
          </p:cNvPr>
          <p:cNvSpPr/>
          <p:nvPr/>
        </p:nvSpPr>
        <p:spPr>
          <a:xfrm>
            <a:off x="500380" y="1076960"/>
            <a:ext cx="57150" cy="406400"/>
          </a:xfrm>
          <a:prstGeom prst="rect">
            <a:avLst/>
          </a:prstGeom>
          <a:solidFill>
            <a:srgbClr val="EC008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EUB Integrated - top diagonal">
            <a:extLst>
              <a:ext uri="{FF2B5EF4-FFF2-40B4-BE49-F238E27FC236}">
                <a16:creationId xmlns:a16="http://schemas.microsoft.com/office/drawing/2014/main" id="{45BC76B6-D10C-B45F-29AB-41A68F4D1081}"/>
              </a:ext>
            </a:extLst>
          </p:cNvPr>
          <p:cNvCxnSpPr/>
          <p:nvPr/>
        </p:nvCxnSpPr>
        <p:spPr>
          <a:xfrm>
            <a:off x="9804400" y="0"/>
            <a:ext cx="46990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EUB Integrated - top horizontal">
            <a:extLst>
              <a:ext uri="{FF2B5EF4-FFF2-40B4-BE49-F238E27FC236}">
                <a16:creationId xmlns:a16="http://schemas.microsoft.com/office/drawing/2014/main" id="{C7D5991C-57BC-409C-8B8C-011EB6A888C9}"/>
              </a:ext>
            </a:extLst>
          </p:cNvPr>
          <p:cNvCxnSpPr/>
          <p:nvPr/>
        </p:nvCxnSpPr>
        <p:spPr>
          <a:xfrm>
            <a:off x="10274300" y="520700"/>
            <a:ext cx="1828800" cy="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EUB Integrated - top vertical">
            <a:extLst>
              <a:ext uri="{FF2B5EF4-FFF2-40B4-BE49-F238E27FC236}">
                <a16:creationId xmlns:a16="http://schemas.microsoft.com/office/drawing/2014/main" id="{9C348204-4624-6AF7-A0D5-7F6DA81BFB69}"/>
              </a:ext>
            </a:extLst>
          </p:cNvPr>
          <p:cNvCxnSpPr/>
          <p:nvPr/>
        </p:nvCxnSpPr>
        <p:spPr>
          <a:xfrm flipV="1">
            <a:off x="12103100" y="0"/>
            <a:ext cx="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EUB Integrated - bottom diagonal">
            <a:extLst>
              <a:ext uri="{FF2B5EF4-FFF2-40B4-BE49-F238E27FC236}">
                <a16:creationId xmlns:a16="http://schemas.microsoft.com/office/drawing/2014/main" id="{A418F13B-0DF5-3788-C4F8-A01A03716A46}"/>
              </a:ext>
            </a:extLst>
          </p:cNvPr>
          <p:cNvCxnSpPr/>
          <p:nvPr/>
        </p:nvCxnSpPr>
        <p:spPr>
          <a:xfrm>
            <a:off x="0" y="6248400"/>
            <a:ext cx="469900" cy="469900"/>
          </a:xfrm>
          <a:prstGeom prst="line">
            <a:avLst/>
          </a:prstGeom>
          <a:ln w="2794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EUB Integrated - bottom horizontal">
            <a:extLst>
              <a:ext uri="{FF2B5EF4-FFF2-40B4-BE49-F238E27FC236}">
                <a16:creationId xmlns:a16="http://schemas.microsoft.com/office/drawing/2014/main" id="{89556BFA-0424-6DAD-FF20-DB8ED6D84768}"/>
              </a:ext>
            </a:extLst>
          </p:cNvPr>
          <p:cNvCxnSpPr/>
          <p:nvPr/>
        </p:nvCxnSpPr>
        <p:spPr>
          <a:xfrm>
            <a:off x="469900" y="6718300"/>
            <a:ext cx="11722100" cy="0"/>
          </a:xfrm>
          <a:prstGeom prst="line">
            <a:avLst/>
          </a:prstGeom>
          <a:ln w="17780">
            <a:solidFill>
              <a:srgbClr val="4305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CEUB Integrated - logo" descr="CEUB Educação Superior">
            <a:extLst>
              <a:ext uri="{FF2B5EF4-FFF2-40B4-BE49-F238E27FC236}">
                <a16:creationId xmlns:a16="http://schemas.microsoft.com/office/drawing/2014/main" id="{4D233387-2B8A-F4E7-1F5C-A9FB30A1E94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63500"/>
            <a:ext cx="1193800" cy="545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3755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10972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Outras cifras clássicas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14630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C0089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transposição</a:t>
            </a:r>
            <a:endParaRPr lang="en-US" sz="1200" b="1" dirty="0">
              <a:solidFill>
                <a:srgbClr val="EC0089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054E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Transposição ≠ substituição:</a:t>
            </a:r>
            <a:endParaRPr lang="en-US" sz="2400" b="1" dirty="0">
              <a:solidFill>
                <a:srgbClr val="43054E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618488"/>
            <a:ext cx="576072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 letras não mudam, só mudam de lugar.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Ex.: “SCYTALE”, “RAIL FENCE”.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Ataques exploram padrões e comprimento da chave.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46520" y="1051560"/>
            <a:ext cx="5102352" cy="5440680"/>
          </a:xfrm>
          <a:prstGeom prst="roundRect">
            <a:avLst/>
          </a:prstGeom>
          <a:solidFill>
            <a:srgbClr val="F9F2FA"/>
          </a:solidFill>
          <a:ln w="12700">
            <a:solidFill>
              <a:srgbClr val="DBC3E1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446520" y="1051560"/>
            <a:ext cx="109728" cy="544068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647688" y="1216152"/>
            <a:ext cx="4736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Mini-exemplo (colunas)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47688" y="1645920"/>
            <a:ext cx="4736592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Mensagem: ATAQUEAOAMANHECER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Chave: 4 colunas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 A Q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E A 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 A 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E C 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_ _ _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por colunas → ciphertext</a:t>
            </a:r>
            <a:endParaRPr lang="en-US" sz="1400" dirty="0"/>
          </a:p>
        </p:txBody>
      </p:sp>
      <p:sp>
        <p:nvSpPr>
          <p:cNvPr id="13" name="CEUB Integrated - title marker">
            <a:extLst>
              <a:ext uri="{FF2B5EF4-FFF2-40B4-BE49-F238E27FC236}">
                <a16:creationId xmlns:a16="http://schemas.microsoft.com/office/drawing/2014/main" id="{BCAC6DFD-04E5-7089-B5A6-9A44FDF99EBE}"/>
              </a:ext>
            </a:extLst>
          </p:cNvPr>
          <p:cNvSpPr/>
          <p:nvPr/>
        </p:nvSpPr>
        <p:spPr>
          <a:xfrm>
            <a:off x="500380" y="1076960"/>
            <a:ext cx="57150" cy="406400"/>
          </a:xfrm>
          <a:prstGeom prst="rect">
            <a:avLst/>
          </a:prstGeom>
          <a:solidFill>
            <a:srgbClr val="EC008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5" name="CEUB Integrated - top diagonal">
            <a:extLst>
              <a:ext uri="{FF2B5EF4-FFF2-40B4-BE49-F238E27FC236}">
                <a16:creationId xmlns:a16="http://schemas.microsoft.com/office/drawing/2014/main" id="{D65BD975-5977-5106-8495-E7D6557CC1D9}"/>
              </a:ext>
            </a:extLst>
          </p:cNvPr>
          <p:cNvCxnSpPr/>
          <p:nvPr/>
        </p:nvCxnSpPr>
        <p:spPr>
          <a:xfrm>
            <a:off x="9804400" y="0"/>
            <a:ext cx="46990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EUB Integrated - top horizontal">
            <a:extLst>
              <a:ext uri="{FF2B5EF4-FFF2-40B4-BE49-F238E27FC236}">
                <a16:creationId xmlns:a16="http://schemas.microsoft.com/office/drawing/2014/main" id="{900B0CD5-B290-18CA-8AEB-A933AC817EE8}"/>
              </a:ext>
            </a:extLst>
          </p:cNvPr>
          <p:cNvCxnSpPr/>
          <p:nvPr/>
        </p:nvCxnSpPr>
        <p:spPr>
          <a:xfrm>
            <a:off x="10274300" y="520700"/>
            <a:ext cx="1828800" cy="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EUB Integrated - top vertical">
            <a:extLst>
              <a:ext uri="{FF2B5EF4-FFF2-40B4-BE49-F238E27FC236}">
                <a16:creationId xmlns:a16="http://schemas.microsoft.com/office/drawing/2014/main" id="{6684F450-7F69-3745-EEF2-9F420B49F5DD}"/>
              </a:ext>
            </a:extLst>
          </p:cNvPr>
          <p:cNvCxnSpPr/>
          <p:nvPr/>
        </p:nvCxnSpPr>
        <p:spPr>
          <a:xfrm flipV="1">
            <a:off x="12103100" y="0"/>
            <a:ext cx="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EUB Integrated - bottom diagonal">
            <a:extLst>
              <a:ext uri="{FF2B5EF4-FFF2-40B4-BE49-F238E27FC236}">
                <a16:creationId xmlns:a16="http://schemas.microsoft.com/office/drawing/2014/main" id="{A9E958EE-962C-291F-7EFC-DFBB1C2B2B2F}"/>
              </a:ext>
            </a:extLst>
          </p:cNvPr>
          <p:cNvCxnSpPr/>
          <p:nvPr/>
        </p:nvCxnSpPr>
        <p:spPr>
          <a:xfrm>
            <a:off x="0" y="6248400"/>
            <a:ext cx="469900" cy="469900"/>
          </a:xfrm>
          <a:prstGeom prst="line">
            <a:avLst/>
          </a:prstGeom>
          <a:ln w="2794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EUB Integrated - bottom horizontal">
            <a:extLst>
              <a:ext uri="{FF2B5EF4-FFF2-40B4-BE49-F238E27FC236}">
                <a16:creationId xmlns:a16="http://schemas.microsoft.com/office/drawing/2014/main" id="{C1B0AAAD-34D0-366D-3437-474AD547587E}"/>
              </a:ext>
            </a:extLst>
          </p:cNvPr>
          <p:cNvCxnSpPr/>
          <p:nvPr/>
        </p:nvCxnSpPr>
        <p:spPr>
          <a:xfrm>
            <a:off x="469900" y="6718300"/>
            <a:ext cx="11722100" cy="0"/>
          </a:xfrm>
          <a:prstGeom prst="line">
            <a:avLst/>
          </a:prstGeom>
          <a:ln w="17780">
            <a:solidFill>
              <a:srgbClr val="4305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CEUB Integrated - logo" descr="CEUB Educação Superior">
            <a:extLst>
              <a:ext uri="{FF2B5EF4-FFF2-40B4-BE49-F238E27FC236}">
                <a16:creationId xmlns:a16="http://schemas.microsoft.com/office/drawing/2014/main" id="{DCD79B55-39C0-554C-5868-41373D5D3E1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63500"/>
            <a:ext cx="1193800" cy="54549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10972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14630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C0089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bit a bit</a:t>
            </a:r>
            <a:endParaRPr lang="en-US" sz="1200" b="1" dirty="0">
              <a:solidFill>
                <a:srgbClr val="EC0089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054E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XOR (⊕):</a:t>
            </a:r>
            <a:endParaRPr lang="en-US" sz="2400" b="1" dirty="0">
              <a:solidFill>
                <a:srgbClr val="43054E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618488"/>
            <a:ext cx="585216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Operação lógica: 0⊕0=0, 0⊕1=1, 1⊕0=1, 1⊕1=0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Propriedade chave: (A ⊕ K) ⊕ K = A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 seja: mesma operação cifra e decifra.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46520" y="1051560"/>
            <a:ext cx="5102352" cy="420624"/>
          </a:xfrm>
          <a:prstGeom prst="roundRect">
            <a:avLst/>
          </a:prstGeom>
          <a:solidFill>
            <a:srgbClr val="121A33"/>
          </a:solidFill>
          <a:ln w="12700">
            <a:solidFill>
              <a:srgbClr val="121A3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611112" y="1124712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C0089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Exemplo em bits</a:t>
            </a:r>
            <a:endParaRPr lang="en-US" sz="1400" b="1" dirty="0">
              <a:solidFill>
                <a:srgbClr val="EC0089"/>
              </a:solidFill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46520" y="1545336"/>
            <a:ext cx="5102352" cy="420624"/>
          </a:xfrm>
          <a:prstGeom prst="roundRect">
            <a:avLst/>
          </a:prstGeom>
          <a:solidFill>
            <a:srgbClr val="F9F2FA"/>
          </a:solidFill>
          <a:ln w="12700">
            <a:solidFill>
              <a:srgbClr val="DBC3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611112" y="1636776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:  1 0 1 1 0 0 1 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46520" y="1965960"/>
            <a:ext cx="5102352" cy="420624"/>
          </a:xfrm>
          <a:prstGeom prst="roundRect">
            <a:avLst/>
          </a:prstGeom>
          <a:solidFill>
            <a:srgbClr val="F9F2FA"/>
          </a:solidFill>
          <a:ln w="12700">
            <a:solidFill>
              <a:srgbClr val="DBC3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611112" y="2057400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:  0 1 1 0 1 0 0 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46520" y="2386584"/>
            <a:ext cx="5102352" cy="420624"/>
          </a:xfrm>
          <a:prstGeom prst="roundRect">
            <a:avLst/>
          </a:prstGeom>
          <a:solidFill>
            <a:srgbClr val="F9F2FA"/>
          </a:solidFill>
          <a:ln w="12700">
            <a:solidFill>
              <a:srgbClr val="DBC3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611112" y="2478024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A⊕K: 1 1 0 1 1 0 1 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46520" y="2807208"/>
            <a:ext cx="5102352" cy="420624"/>
          </a:xfrm>
          <a:prstGeom prst="roundRect">
            <a:avLst/>
          </a:prstGeom>
          <a:solidFill>
            <a:srgbClr val="F9F2FA"/>
          </a:solidFill>
          <a:ln w="12700">
            <a:solidFill>
              <a:srgbClr val="DBC3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611112" y="2898648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46520" y="3227832"/>
            <a:ext cx="5102352" cy="420624"/>
          </a:xfrm>
          <a:prstGeom prst="roundRect">
            <a:avLst/>
          </a:prstGeom>
          <a:solidFill>
            <a:srgbClr val="F9F2FA"/>
          </a:solidFill>
          <a:ln w="12700">
            <a:solidFill>
              <a:srgbClr val="DBC3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611112" y="3319272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(A⊕K)⊕K = A</a:t>
            </a:r>
            <a:endParaRPr lang="en-US" sz="1400" dirty="0"/>
          </a:p>
        </p:txBody>
      </p:sp>
      <p:sp>
        <p:nvSpPr>
          <p:cNvPr id="21" name="CEUB Integrated - title marker">
            <a:extLst>
              <a:ext uri="{FF2B5EF4-FFF2-40B4-BE49-F238E27FC236}">
                <a16:creationId xmlns:a16="http://schemas.microsoft.com/office/drawing/2014/main" id="{E6D028E7-CB86-D96D-15F4-BDAF418504BA}"/>
              </a:ext>
            </a:extLst>
          </p:cNvPr>
          <p:cNvSpPr/>
          <p:nvPr/>
        </p:nvSpPr>
        <p:spPr>
          <a:xfrm>
            <a:off x="500380" y="1076960"/>
            <a:ext cx="57150" cy="406400"/>
          </a:xfrm>
          <a:prstGeom prst="rect">
            <a:avLst/>
          </a:prstGeom>
          <a:solidFill>
            <a:srgbClr val="EC008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3" name="CEUB Integrated - top diagonal">
            <a:extLst>
              <a:ext uri="{FF2B5EF4-FFF2-40B4-BE49-F238E27FC236}">
                <a16:creationId xmlns:a16="http://schemas.microsoft.com/office/drawing/2014/main" id="{8479E120-C797-ECC0-A622-E6788FAAA9B1}"/>
              </a:ext>
            </a:extLst>
          </p:cNvPr>
          <p:cNvCxnSpPr/>
          <p:nvPr/>
        </p:nvCxnSpPr>
        <p:spPr>
          <a:xfrm>
            <a:off x="9804400" y="0"/>
            <a:ext cx="46990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EUB Integrated - top horizontal">
            <a:extLst>
              <a:ext uri="{FF2B5EF4-FFF2-40B4-BE49-F238E27FC236}">
                <a16:creationId xmlns:a16="http://schemas.microsoft.com/office/drawing/2014/main" id="{CEC2E0E6-2E60-4BC1-7465-12E52C860092}"/>
              </a:ext>
            </a:extLst>
          </p:cNvPr>
          <p:cNvCxnSpPr/>
          <p:nvPr/>
        </p:nvCxnSpPr>
        <p:spPr>
          <a:xfrm>
            <a:off x="10274300" y="520700"/>
            <a:ext cx="1828800" cy="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EUB Integrated - top vertical">
            <a:extLst>
              <a:ext uri="{FF2B5EF4-FFF2-40B4-BE49-F238E27FC236}">
                <a16:creationId xmlns:a16="http://schemas.microsoft.com/office/drawing/2014/main" id="{46C490FE-DA12-3C26-F6DA-E7E0C074165B}"/>
              </a:ext>
            </a:extLst>
          </p:cNvPr>
          <p:cNvCxnSpPr/>
          <p:nvPr/>
        </p:nvCxnSpPr>
        <p:spPr>
          <a:xfrm flipV="1">
            <a:off x="12103100" y="0"/>
            <a:ext cx="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EUB Integrated - bottom diagonal">
            <a:extLst>
              <a:ext uri="{FF2B5EF4-FFF2-40B4-BE49-F238E27FC236}">
                <a16:creationId xmlns:a16="http://schemas.microsoft.com/office/drawing/2014/main" id="{CCDB24E0-E08A-4B61-24F4-80F13E836EA5}"/>
              </a:ext>
            </a:extLst>
          </p:cNvPr>
          <p:cNvCxnSpPr/>
          <p:nvPr/>
        </p:nvCxnSpPr>
        <p:spPr>
          <a:xfrm>
            <a:off x="0" y="6248400"/>
            <a:ext cx="469900" cy="469900"/>
          </a:xfrm>
          <a:prstGeom prst="line">
            <a:avLst/>
          </a:prstGeom>
          <a:ln w="2794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EUB Integrated - bottom horizontal">
            <a:extLst>
              <a:ext uri="{FF2B5EF4-FFF2-40B4-BE49-F238E27FC236}">
                <a16:creationId xmlns:a16="http://schemas.microsoft.com/office/drawing/2014/main" id="{443304F6-44AF-9285-F221-686FF4FE18EF}"/>
              </a:ext>
            </a:extLst>
          </p:cNvPr>
          <p:cNvCxnSpPr/>
          <p:nvPr/>
        </p:nvCxnSpPr>
        <p:spPr>
          <a:xfrm>
            <a:off x="469900" y="6718300"/>
            <a:ext cx="11722100" cy="0"/>
          </a:xfrm>
          <a:prstGeom prst="line">
            <a:avLst/>
          </a:prstGeom>
          <a:ln w="17780">
            <a:solidFill>
              <a:srgbClr val="4305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CEUB Integrated - logo" descr="CEUB Educação Superior">
            <a:extLst>
              <a:ext uri="{FF2B5EF4-FFF2-40B4-BE49-F238E27FC236}">
                <a16:creationId xmlns:a16="http://schemas.microsoft.com/office/drawing/2014/main" id="{60CF1B6A-5DB8-EA96-2B4F-5A6DF0CB9C2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63500"/>
            <a:ext cx="1193800" cy="54549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10972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14630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C0089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cifra simples</a:t>
            </a:r>
            <a:endParaRPr lang="en-US" sz="1200" b="1" dirty="0">
              <a:solidFill>
                <a:srgbClr val="EC0089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054E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Como usar XOR para cifrar texto (versão didática):</a:t>
            </a:r>
            <a:endParaRPr lang="en-US" sz="2400" b="1" dirty="0">
              <a:solidFill>
                <a:srgbClr val="43054E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618488"/>
            <a:ext cx="10972800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1) Converta texto em bytes (ASCII/UTF‑8)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2) Escolha uma chave (bytes) e repita até o tamanho da mensagem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3) Cipher = Plain ⊕ Key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4) Decifra: Plain = Cipher ⊕ Key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800600"/>
            <a:ext cx="10972800" cy="1554480"/>
          </a:xfrm>
          <a:prstGeom prst="roundRect">
            <a:avLst/>
          </a:prstGeom>
          <a:solidFill>
            <a:srgbClr val="F9F2FA"/>
          </a:solidFill>
          <a:ln w="12700">
            <a:solidFill>
              <a:srgbClr val="DBC3E1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40080" y="4800600"/>
            <a:ext cx="109728" cy="15544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41248" y="496519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1248" y="539496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chave ("key reuse") costuma quebrar tudo — veremos já já.</a:t>
            </a:r>
            <a:endParaRPr lang="en-US" sz="1400" dirty="0"/>
          </a:p>
        </p:txBody>
      </p:sp>
      <p:sp>
        <p:nvSpPr>
          <p:cNvPr id="13" name="CEUB Integrated - title marker">
            <a:extLst>
              <a:ext uri="{FF2B5EF4-FFF2-40B4-BE49-F238E27FC236}">
                <a16:creationId xmlns:a16="http://schemas.microsoft.com/office/drawing/2014/main" id="{0DBC25F3-BD57-695F-4E47-359DFF40E4A6}"/>
              </a:ext>
            </a:extLst>
          </p:cNvPr>
          <p:cNvSpPr/>
          <p:nvPr/>
        </p:nvSpPr>
        <p:spPr>
          <a:xfrm>
            <a:off x="500380" y="1076960"/>
            <a:ext cx="57150" cy="406400"/>
          </a:xfrm>
          <a:prstGeom prst="rect">
            <a:avLst/>
          </a:prstGeom>
          <a:solidFill>
            <a:srgbClr val="EC008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5" name="CEUB Integrated - top diagonal">
            <a:extLst>
              <a:ext uri="{FF2B5EF4-FFF2-40B4-BE49-F238E27FC236}">
                <a16:creationId xmlns:a16="http://schemas.microsoft.com/office/drawing/2014/main" id="{299C6A50-1143-6CE1-E8EE-85F13EC1AF78}"/>
              </a:ext>
            </a:extLst>
          </p:cNvPr>
          <p:cNvCxnSpPr/>
          <p:nvPr/>
        </p:nvCxnSpPr>
        <p:spPr>
          <a:xfrm>
            <a:off x="9804400" y="0"/>
            <a:ext cx="46990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EUB Integrated - top horizontal">
            <a:extLst>
              <a:ext uri="{FF2B5EF4-FFF2-40B4-BE49-F238E27FC236}">
                <a16:creationId xmlns:a16="http://schemas.microsoft.com/office/drawing/2014/main" id="{013731B3-B826-B90C-FA16-AB9DDCD8E9EF}"/>
              </a:ext>
            </a:extLst>
          </p:cNvPr>
          <p:cNvCxnSpPr/>
          <p:nvPr/>
        </p:nvCxnSpPr>
        <p:spPr>
          <a:xfrm>
            <a:off x="10274300" y="520700"/>
            <a:ext cx="1828800" cy="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EUB Integrated - top vertical">
            <a:extLst>
              <a:ext uri="{FF2B5EF4-FFF2-40B4-BE49-F238E27FC236}">
                <a16:creationId xmlns:a16="http://schemas.microsoft.com/office/drawing/2014/main" id="{BCF0969B-6082-0F02-8974-20525A03E7E2}"/>
              </a:ext>
            </a:extLst>
          </p:cNvPr>
          <p:cNvCxnSpPr/>
          <p:nvPr/>
        </p:nvCxnSpPr>
        <p:spPr>
          <a:xfrm flipV="1">
            <a:off x="12103100" y="0"/>
            <a:ext cx="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EUB Integrated - bottom diagonal">
            <a:extLst>
              <a:ext uri="{FF2B5EF4-FFF2-40B4-BE49-F238E27FC236}">
                <a16:creationId xmlns:a16="http://schemas.microsoft.com/office/drawing/2014/main" id="{EC4BF877-56FF-E25B-4EB1-78C2EBE7AA92}"/>
              </a:ext>
            </a:extLst>
          </p:cNvPr>
          <p:cNvCxnSpPr/>
          <p:nvPr/>
        </p:nvCxnSpPr>
        <p:spPr>
          <a:xfrm>
            <a:off x="0" y="6248400"/>
            <a:ext cx="469900" cy="469900"/>
          </a:xfrm>
          <a:prstGeom prst="line">
            <a:avLst/>
          </a:prstGeom>
          <a:ln w="2794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EUB Integrated - bottom horizontal">
            <a:extLst>
              <a:ext uri="{FF2B5EF4-FFF2-40B4-BE49-F238E27FC236}">
                <a16:creationId xmlns:a16="http://schemas.microsoft.com/office/drawing/2014/main" id="{2A3378B3-A8BF-E18E-DEFB-F128048D5096}"/>
              </a:ext>
            </a:extLst>
          </p:cNvPr>
          <p:cNvCxnSpPr/>
          <p:nvPr/>
        </p:nvCxnSpPr>
        <p:spPr>
          <a:xfrm>
            <a:off x="469900" y="6718300"/>
            <a:ext cx="11722100" cy="0"/>
          </a:xfrm>
          <a:prstGeom prst="line">
            <a:avLst/>
          </a:prstGeom>
          <a:ln w="17780">
            <a:solidFill>
              <a:srgbClr val="4305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CEUB Integrated - logo" descr="CEUB Educação Superior">
            <a:extLst>
              <a:ext uri="{FF2B5EF4-FFF2-40B4-BE49-F238E27FC236}">
                <a16:creationId xmlns:a16="http://schemas.microsoft.com/office/drawing/2014/main" id="{62ECF06E-8335-1BAA-8260-DE7FDF9DF59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63500"/>
            <a:ext cx="1193800" cy="54549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10972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3054E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XOR</a:t>
            </a:r>
            <a:endParaRPr lang="en-US" sz="2000" b="1" dirty="0">
              <a:solidFill>
                <a:srgbClr val="43054E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686800" y="14630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C0089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one-time pad</a:t>
            </a:r>
            <a:endParaRPr lang="en-US" sz="1200" b="1" dirty="0">
              <a:solidFill>
                <a:srgbClr val="EC0089"/>
              </a:solidFill>
              <a:latin typeface="Aptos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10972800" cy="2148840"/>
          </a:xfrm>
          <a:prstGeom prst="roundRect">
            <a:avLst/>
          </a:prstGeom>
          <a:solidFill>
            <a:srgbClr val="F9F2FA"/>
          </a:solidFill>
          <a:ln w="12700">
            <a:solidFill>
              <a:srgbClr val="DBC3E1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109728" cy="21488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41248" y="121615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Pad (OTP) — a cifra “perfeita” (em teoria)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1645920"/>
            <a:ext cx="106070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⊕ Key, onde a Key é: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verdadeiramente aleatória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 mesmo tamanho do plaintext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usada uma única vez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não usamos sempre?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" y="3995928"/>
            <a:ext cx="10972800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Distribuir chaves gigantes é difícil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◦ precisa de canal seguro prévio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Guardar e gerenciar chaves é caro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 reutilizar a chave, perde a segurança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◦ e pode vazar as duas mensagens</a:t>
            </a:r>
            <a:endParaRPr lang="en-US" sz="1800" dirty="0"/>
          </a:p>
        </p:txBody>
      </p:sp>
      <p:sp>
        <p:nvSpPr>
          <p:cNvPr id="13" name="CEUB Integrated - title marker">
            <a:extLst>
              <a:ext uri="{FF2B5EF4-FFF2-40B4-BE49-F238E27FC236}">
                <a16:creationId xmlns:a16="http://schemas.microsoft.com/office/drawing/2014/main" id="{09D06A50-3B95-0F7D-F988-7205304126D1}"/>
              </a:ext>
            </a:extLst>
          </p:cNvPr>
          <p:cNvSpPr/>
          <p:nvPr/>
        </p:nvSpPr>
        <p:spPr>
          <a:xfrm>
            <a:off x="500380" y="135128"/>
            <a:ext cx="57150" cy="406400"/>
          </a:xfrm>
          <a:prstGeom prst="rect">
            <a:avLst/>
          </a:prstGeom>
          <a:solidFill>
            <a:srgbClr val="EC008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5" name="CEUB Integrated - top diagonal">
            <a:extLst>
              <a:ext uri="{FF2B5EF4-FFF2-40B4-BE49-F238E27FC236}">
                <a16:creationId xmlns:a16="http://schemas.microsoft.com/office/drawing/2014/main" id="{8EF1D02F-0A00-38D8-DD2B-CA1470B29FF3}"/>
              </a:ext>
            </a:extLst>
          </p:cNvPr>
          <p:cNvCxnSpPr/>
          <p:nvPr/>
        </p:nvCxnSpPr>
        <p:spPr>
          <a:xfrm>
            <a:off x="9804400" y="0"/>
            <a:ext cx="46990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EUB Integrated - top horizontal">
            <a:extLst>
              <a:ext uri="{FF2B5EF4-FFF2-40B4-BE49-F238E27FC236}">
                <a16:creationId xmlns:a16="http://schemas.microsoft.com/office/drawing/2014/main" id="{B6C05A77-B70D-93F3-D827-B3AE44F7FAFD}"/>
              </a:ext>
            </a:extLst>
          </p:cNvPr>
          <p:cNvCxnSpPr/>
          <p:nvPr/>
        </p:nvCxnSpPr>
        <p:spPr>
          <a:xfrm>
            <a:off x="10274300" y="520700"/>
            <a:ext cx="1828800" cy="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EUB Integrated - top vertical">
            <a:extLst>
              <a:ext uri="{FF2B5EF4-FFF2-40B4-BE49-F238E27FC236}">
                <a16:creationId xmlns:a16="http://schemas.microsoft.com/office/drawing/2014/main" id="{0DAECD23-878C-A4E9-AB63-C5314238B178}"/>
              </a:ext>
            </a:extLst>
          </p:cNvPr>
          <p:cNvCxnSpPr/>
          <p:nvPr/>
        </p:nvCxnSpPr>
        <p:spPr>
          <a:xfrm flipV="1">
            <a:off x="12103100" y="0"/>
            <a:ext cx="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EUB Integrated - bottom diagonal">
            <a:extLst>
              <a:ext uri="{FF2B5EF4-FFF2-40B4-BE49-F238E27FC236}">
                <a16:creationId xmlns:a16="http://schemas.microsoft.com/office/drawing/2014/main" id="{3B42E72C-1ACD-0590-B504-92F19F115A84}"/>
              </a:ext>
            </a:extLst>
          </p:cNvPr>
          <p:cNvCxnSpPr/>
          <p:nvPr/>
        </p:nvCxnSpPr>
        <p:spPr>
          <a:xfrm>
            <a:off x="0" y="6248400"/>
            <a:ext cx="469900" cy="469900"/>
          </a:xfrm>
          <a:prstGeom prst="line">
            <a:avLst/>
          </a:prstGeom>
          <a:ln w="2794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EUB Integrated - bottom horizontal">
            <a:extLst>
              <a:ext uri="{FF2B5EF4-FFF2-40B4-BE49-F238E27FC236}">
                <a16:creationId xmlns:a16="http://schemas.microsoft.com/office/drawing/2014/main" id="{85B05961-7FB2-8937-5F34-01233CAAC8FA}"/>
              </a:ext>
            </a:extLst>
          </p:cNvPr>
          <p:cNvCxnSpPr/>
          <p:nvPr/>
        </p:nvCxnSpPr>
        <p:spPr>
          <a:xfrm>
            <a:off x="469900" y="6718300"/>
            <a:ext cx="11722100" cy="0"/>
          </a:xfrm>
          <a:prstGeom prst="line">
            <a:avLst/>
          </a:prstGeom>
          <a:ln w="17780">
            <a:solidFill>
              <a:srgbClr val="4305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CEUB Integrated - logo" descr="CEUB Educação Superior">
            <a:extLst>
              <a:ext uri="{FF2B5EF4-FFF2-40B4-BE49-F238E27FC236}">
                <a16:creationId xmlns:a16="http://schemas.microsoft.com/office/drawing/2014/main" id="{51BD1836-C2A6-60D4-8ED5-989719BB0B7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63500"/>
            <a:ext cx="1193800" cy="54549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10972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14630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C0089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falha clássica</a:t>
            </a:r>
            <a:endParaRPr lang="en-US" sz="1200" b="1" dirty="0">
              <a:solidFill>
                <a:srgbClr val="EC0089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054E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Se você reutiliza a mesma chave K:</a:t>
            </a:r>
            <a:endParaRPr lang="en-US" sz="2400" b="1" dirty="0">
              <a:solidFill>
                <a:srgbClr val="43054E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618488"/>
            <a:ext cx="594360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C1 = P1 ⊕ K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C2 = P2 ⊕ K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Então: C1 ⊕ C2 = P1 ⊕ P2 (K cancela!)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46520" y="1051560"/>
            <a:ext cx="5102352" cy="5440680"/>
          </a:xfrm>
          <a:prstGeom prst="roundRect">
            <a:avLst/>
          </a:prstGeom>
          <a:solidFill>
            <a:srgbClr val="F9F2FA"/>
          </a:solidFill>
          <a:ln w="12700">
            <a:solidFill>
              <a:srgbClr val="DBC3E1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446520" y="1051560"/>
            <a:ext cx="109728" cy="54406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647688" y="1216152"/>
            <a:ext cx="4736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47688" y="1645920"/>
            <a:ext cx="4736592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atacante não ganha P1 e P2 direto,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ganha relação entre </a:t>
            </a:r>
            <a:r>
              <a:rPr lang="en-US" sz="1400" dirty="0" err="1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</a:t>
            </a: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textos em linguagem natural,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 para “chutar” trechos e recuperar o resto.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aconteceu em casos reais ("two-time pad").</a:t>
            </a:r>
            <a:endParaRPr lang="en-US" sz="1400" dirty="0"/>
          </a:p>
        </p:txBody>
      </p:sp>
      <p:sp>
        <p:nvSpPr>
          <p:cNvPr id="13" name="CEUB Integrated - title marker">
            <a:extLst>
              <a:ext uri="{FF2B5EF4-FFF2-40B4-BE49-F238E27FC236}">
                <a16:creationId xmlns:a16="http://schemas.microsoft.com/office/drawing/2014/main" id="{748DE287-FBA4-A029-2B7D-7E6086719C45}"/>
              </a:ext>
            </a:extLst>
          </p:cNvPr>
          <p:cNvSpPr/>
          <p:nvPr/>
        </p:nvSpPr>
        <p:spPr>
          <a:xfrm>
            <a:off x="500380" y="1076960"/>
            <a:ext cx="57150" cy="406400"/>
          </a:xfrm>
          <a:prstGeom prst="rect">
            <a:avLst/>
          </a:prstGeom>
          <a:solidFill>
            <a:srgbClr val="EC008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5" name="CEUB Integrated - top diagonal">
            <a:extLst>
              <a:ext uri="{FF2B5EF4-FFF2-40B4-BE49-F238E27FC236}">
                <a16:creationId xmlns:a16="http://schemas.microsoft.com/office/drawing/2014/main" id="{A5FE7F73-078E-F3B1-0954-EE3EE1675441}"/>
              </a:ext>
            </a:extLst>
          </p:cNvPr>
          <p:cNvCxnSpPr/>
          <p:nvPr/>
        </p:nvCxnSpPr>
        <p:spPr>
          <a:xfrm>
            <a:off x="9804400" y="0"/>
            <a:ext cx="46990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EUB Integrated - top horizontal">
            <a:extLst>
              <a:ext uri="{FF2B5EF4-FFF2-40B4-BE49-F238E27FC236}">
                <a16:creationId xmlns:a16="http://schemas.microsoft.com/office/drawing/2014/main" id="{B9EAF5B8-0F38-A67D-5435-A85CA9ECAD7E}"/>
              </a:ext>
            </a:extLst>
          </p:cNvPr>
          <p:cNvCxnSpPr/>
          <p:nvPr/>
        </p:nvCxnSpPr>
        <p:spPr>
          <a:xfrm>
            <a:off x="10274300" y="520700"/>
            <a:ext cx="1828800" cy="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EUB Integrated - top vertical">
            <a:extLst>
              <a:ext uri="{FF2B5EF4-FFF2-40B4-BE49-F238E27FC236}">
                <a16:creationId xmlns:a16="http://schemas.microsoft.com/office/drawing/2014/main" id="{0CF368F1-6A64-A383-D08B-0B2433035419}"/>
              </a:ext>
            </a:extLst>
          </p:cNvPr>
          <p:cNvCxnSpPr/>
          <p:nvPr/>
        </p:nvCxnSpPr>
        <p:spPr>
          <a:xfrm flipV="1">
            <a:off x="12103100" y="0"/>
            <a:ext cx="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EUB Integrated - bottom diagonal">
            <a:extLst>
              <a:ext uri="{FF2B5EF4-FFF2-40B4-BE49-F238E27FC236}">
                <a16:creationId xmlns:a16="http://schemas.microsoft.com/office/drawing/2014/main" id="{C1F37E7E-FC8D-09C9-D5DB-E74CF1737D4B}"/>
              </a:ext>
            </a:extLst>
          </p:cNvPr>
          <p:cNvCxnSpPr/>
          <p:nvPr/>
        </p:nvCxnSpPr>
        <p:spPr>
          <a:xfrm>
            <a:off x="0" y="6248400"/>
            <a:ext cx="469900" cy="469900"/>
          </a:xfrm>
          <a:prstGeom prst="line">
            <a:avLst/>
          </a:prstGeom>
          <a:ln w="2794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EUB Integrated - bottom horizontal">
            <a:extLst>
              <a:ext uri="{FF2B5EF4-FFF2-40B4-BE49-F238E27FC236}">
                <a16:creationId xmlns:a16="http://schemas.microsoft.com/office/drawing/2014/main" id="{C44554CB-C8E7-5B67-B908-BE1D47D51429}"/>
              </a:ext>
            </a:extLst>
          </p:cNvPr>
          <p:cNvCxnSpPr/>
          <p:nvPr/>
        </p:nvCxnSpPr>
        <p:spPr>
          <a:xfrm>
            <a:off x="469900" y="6718300"/>
            <a:ext cx="11722100" cy="0"/>
          </a:xfrm>
          <a:prstGeom prst="line">
            <a:avLst/>
          </a:prstGeom>
          <a:ln w="17780">
            <a:solidFill>
              <a:srgbClr val="4305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CEUB Integrated - logo" descr="CEUB Educação Superior">
            <a:extLst>
              <a:ext uri="{FF2B5EF4-FFF2-40B4-BE49-F238E27FC236}">
                <a16:creationId xmlns:a16="http://schemas.microsoft.com/office/drawing/2014/main" id="{19C62942-0165-DE5E-A30F-5AC4A437F3E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63500"/>
            <a:ext cx="1193800" cy="54549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10972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Conceitos-chave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14630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C0089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 que guardar desta aula</a:t>
            </a:r>
            <a:endParaRPr lang="en-US" sz="1200" b="1" dirty="0">
              <a:solidFill>
                <a:srgbClr val="EC0089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054E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Checklist mental:</a:t>
            </a:r>
            <a:endParaRPr lang="en-US" sz="2400" b="1" dirty="0">
              <a:solidFill>
                <a:srgbClr val="43054E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618488"/>
            <a:ext cx="10972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Espaço de chaves grande é necessário, mas não suficiente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Padrões/statística são inimigos de cifras simples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Chaves devem ser protegidas e bem gerenciadas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Não invente criptografia para uso real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◦ use bibliotecas e padrões revisados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próxima: criptografia simétrica moderna (cifras de bloco) e modos de operação.</a:t>
            </a:r>
            <a:endParaRPr lang="en-US" sz="1000" dirty="0"/>
          </a:p>
        </p:txBody>
      </p:sp>
      <p:sp>
        <p:nvSpPr>
          <p:cNvPr id="10" name="CEUB Integrated - title marker">
            <a:extLst>
              <a:ext uri="{FF2B5EF4-FFF2-40B4-BE49-F238E27FC236}">
                <a16:creationId xmlns:a16="http://schemas.microsoft.com/office/drawing/2014/main" id="{93F747CA-8884-5674-7291-001B6705C7A4}"/>
              </a:ext>
            </a:extLst>
          </p:cNvPr>
          <p:cNvSpPr/>
          <p:nvPr/>
        </p:nvSpPr>
        <p:spPr>
          <a:xfrm>
            <a:off x="500380" y="1076960"/>
            <a:ext cx="57150" cy="406400"/>
          </a:xfrm>
          <a:prstGeom prst="rect">
            <a:avLst/>
          </a:prstGeom>
          <a:solidFill>
            <a:srgbClr val="EC008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EUB Integrated - top diagonal">
            <a:extLst>
              <a:ext uri="{FF2B5EF4-FFF2-40B4-BE49-F238E27FC236}">
                <a16:creationId xmlns:a16="http://schemas.microsoft.com/office/drawing/2014/main" id="{B5E04D54-48AB-C346-A3BE-0C76BA622549}"/>
              </a:ext>
            </a:extLst>
          </p:cNvPr>
          <p:cNvCxnSpPr/>
          <p:nvPr/>
        </p:nvCxnSpPr>
        <p:spPr>
          <a:xfrm>
            <a:off x="9804400" y="0"/>
            <a:ext cx="46990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EUB Integrated - top horizontal">
            <a:extLst>
              <a:ext uri="{FF2B5EF4-FFF2-40B4-BE49-F238E27FC236}">
                <a16:creationId xmlns:a16="http://schemas.microsoft.com/office/drawing/2014/main" id="{DAE188FE-7102-A460-C3D4-A73E705BDF52}"/>
              </a:ext>
            </a:extLst>
          </p:cNvPr>
          <p:cNvCxnSpPr/>
          <p:nvPr/>
        </p:nvCxnSpPr>
        <p:spPr>
          <a:xfrm>
            <a:off x="10274300" y="520700"/>
            <a:ext cx="1828800" cy="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EUB Integrated - top vertical">
            <a:extLst>
              <a:ext uri="{FF2B5EF4-FFF2-40B4-BE49-F238E27FC236}">
                <a16:creationId xmlns:a16="http://schemas.microsoft.com/office/drawing/2014/main" id="{6780D04F-20EB-519E-4577-C5DF432FF49A}"/>
              </a:ext>
            </a:extLst>
          </p:cNvPr>
          <p:cNvCxnSpPr/>
          <p:nvPr/>
        </p:nvCxnSpPr>
        <p:spPr>
          <a:xfrm flipV="1">
            <a:off x="12103100" y="0"/>
            <a:ext cx="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EUB Integrated - bottom diagonal">
            <a:extLst>
              <a:ext uri="{FF2B5EF4-FFF2-40B4-BE49-F238E27FC236}">
                <a16:creationId xmlns:a16="http://schemas.microsoft.com/office/drawing/2014/main" id="{8EB4D846-7F23-D819-A3BF-BCE003300D55}"/>
              </a:ext>
            </a:extLst>
          </p:cNvPr>
          <p:cNvCxnSpPr/>
          <p:nvPr/>
        </p:nvCxnSpPr>
        <p:spPr>
          <a:xfrm>
            <a:off x="0" y="6248400"/>
            <a:ext cx="469900" cy="469900"/>
          </a:xfrm>
          <a:prstGeom prst="line">
            <a:avLst/>
          </a:prstGeom>
          <a:ln w="2794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EUB Integrated - bottom horizontal">
            <a:extLst>
              <a:ext uri="{FF2B5EF4-FFF2-40B4-BE49-F238E27FC236}">
                <a16:creationId xmlns:a16="http://schemas.microsoft.com/office/drawing/2014/main" id="{11CF94D7-1E8D-A81A-DC92-57704D80E05D}"/>
              </a:ext>
            </a:extLst>
          </p:cNvPr>
          <p:cNvCxnSpPr/>
          <p:nvPr/>
        </p:nvCxnSpPr>
        <p:spPr>
          <a:xfrm>
            <a:off x="469900" y="6718300"/>
            <a:ext cx="11722100" cy="0"/>
          </a:xfrm>
          <a:prstGeom prst="line">
            <a:avLst/>
          </a:prstGeom>
          <a:ln w="17780">
            <a:solidFill>
              <a:srgbClr val="4305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CEUB Integrated - logo" descr="CEUB Educação Superior">
            <a:extLst>
              <a:ext uri="{FF2B5EF4-FFF2-40B4-BE49-F238E27FC236}">
                <a16:creationId xmlns:a16="http://schemas.microsoft.com/office/drawing/2014/main" id="{4FD9C6F3-7780-E0A5-725A-A50707C0B23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63500"/>
            <a:ext cx="1193800" cy="54549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10972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Mini-desafio (15–20 min)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14630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C0089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valendo pontos/participação</a:t>
            </a:r>
            <a:endParaRPr lang="en-US" sz="1200" b="1" dirty="0">
              <a:solidFill>
                <a:srgbClr val="EC0089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054E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Desafio:</a:t>
            </a:r>
            <a:endParaRPr lang="en-US" sz="2400" b="1" dirty="0">
              <a:solidFill>
                <a:srgbClr val="43054E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618488"/>
            <a:ext cx="1097280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1) Você recebeu 3 mensagens cifradas: uma César, uma substituição e uma XOR.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2) Identifique qual é qual (pelo padrão) e recupere o plaintext.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3) Escreva em 2 linhas como você quebrou cada uma.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800600"/>
            <a:ext cx="10972800" cy="1554480"/>
          </a:xfrm>
          <a:prstGeom prst="roundRect">
            <a:avLst/>
          </a:prstGeom>
          <a:solidFill>
            <a:srgbClr val="F9F2FA"/>
          </a:solidFill>
          <a:ln w="12700">
            <a:solidFill>
              <a:srgbClr val="DBC3E1"/>
            </a:solidFill>
            <a:prstDash val="solid"/>
          </a:ln>
          <a:effectLst>
            <a:outerShdw blurRad="38100" dist="190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40080" y="4800600"/>
            <a:ext cx="109728" cy="155448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41248" y="496519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avaliar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1248" y="539496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Clareza do raciocínio &gt; “chute”. Mostre evidências (padrões, tentativas, etc.).</a:t>
            </a:r>
            <a:endParaRPr lang="en-US" sz="140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B456D0B-46F4-181C-7361-867392D884F5}"/>
              </a:ext>
            </a:extLst>
          </p:cNvPr>
          <p:cNvSpPr txBox="1"/>
          <p:nvPr/>
        </p:nvSpPr>
        <p:spPr>
          <a:xfrm>
            <a:off x="362309" y="2770632"/>
            <a:ext cx="115335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C1: EXEUYI ES EQERLIGIV</a:t>
            </a:r>
          </a:p>
          <a:p>
            <a:r>
              <a:rPr lang="pt-BR" dirty="0"/>
              <a:t>C2: HGFZG RT TFEGFZKG QL 19 IGKQL FQ HKQEQ ETFZKQS RQ EORQRT.</a:t>
            </a:r>
          </a:p>
          <a:p>
            <a:r>
              <a:rPr lang="pt-BR" dirty="0"/>
              <a:t>C3 (</a:t>
            </a:r>
            <a:r>
              <a:rPr lang="pt-BR" dirty="0" err="1"/>
              <a:t>hex</a:t>
            </a:r>
            <a:r>
              <a:rPr lang="pt-BR" dirty="0"/>
              <a:t>): 7a63720a1b1a1a0a786f6b63790a7a6b786b0a650a66636e6f780a6e650a67657c63676f647e650a6b676b64626b</a:t>
            </a:r>
          </a:p>
        </p:txBody>
      </p:sp>
      <p:sp>
        <p:nvSpPr>
          <p:cNvPr id="14" name="CEUB Integrated - title marker">
            <a:extLst>
              <a:ext uri="{FF2B5EF4-FFF2-40B4-BE49-F238E27FC236}">
                <a16:creationId xmlns:a16="http://schemas.microsoft.com/office/drawing/2014/main" id="{2B371CC3-C1D0-9EF3-6B25-BB031C948F9C}"/>
              </a:ext>
            </a:extLst>
          </p:cNvPr>
          <p:cNvSpPr/>
          <p:nvPr/>
        </p:nvSpPr>
        <p:spPr>
          <a:xfrm>
            <a:off x="500380" y="1076960"/>
            <a:ext cx="57150" cy="406400"/>
          </a:xfrm>
          <a:prstGeom prst="rect">
            <a:avLst/>
          </a:prstGeom>
          <a:solidFill>
            <a:srgbClr val="EC008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6" name="CEUB Integrated - top diagonal">
            <a:extLst>
              <a:ext uri="{FF2B5EF4-FFF2-40B4-BE49-F238E27FC236}">
                <a16:creationId xmlns:a16="http://schemas.microsoft.com/office/drawing/2014/main" id="{71A09CD7-DE77-1A7A-DE19-FA93E6630057}"/>
              </a:ext>
            </a:extLst>
          </p:cNvPr>
          <p:cNvCxnSpPr/>
          <p:nvPr/>
        </p:nvCxnSpPr>
        <p:spPr>
          <a:xfrm>
            <a:off x="9804400" y="0"/>
            <a:ext cx="46990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EUB Integrated - top horizontal">
            <a:extLst>
              <a:ext uri="{FF2B5EF4-FFF2-40B4-BE49-F238E27FC236}">
                <a16:creationId xmlns:a16="http://schemas.microsoft.com/office/drawing/2014/main" id="{CE8D40F6-4C3E-8AE7-A5AD-DC74D23106BC}"/>
              </a:ext>
            </a:extLst>
          </p:cNvPr>
          <p:cNvCxnSpPr/>
          <p:nvPr/>
        </p:nvCxnSpPr>
        <p:spPr>
          <a:xfrm>
            <a:off x="10274300" y="520700"/>
            <a:ext cx="1828800" cy="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EUB Integrated - top vertical">
            <a:extLst>
              <a:ext uri="{FF2B5EF4-FFF2-40B4-BE49-F238E27FC236}">
                <a16:creationId xmlns:a16="http://schemas.microsoft.com/office/drawing/2014/main" id="{0328F6C5-5246-2438-96E4-DE2D09861004}"/>
              </a:ext>
            </a:extLst>
          </p:cNvPr>
          <p:cNvCxnSpPr/>
          <p:nvPr/>
        </p:nvCxnSpPr>
        <p:spPr>
          <a:xfrm flipV="1">
            <a:off x="12103100" y="0"/>
            <a:ext cx="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EUB Integrated - bottom diagonal">
            <a:extLst>
              <a:ext uri="{FF2B5EF4-FFF2-40B4-BE49-F238E27FC236}">
                <a16:creationId xmlns:a16="http://schemas.microsoft.com/office/drawing/2014/main" id="{006B3B77-319D-46B2-4395-F9258E91F236}"/>
              </a:ext>
            </a:extLst>
          </p:cNvPr>
          <p:cNvCxnSpPr/>
          <p:nvPr/>
        </p:nvCxnSpPr>
        <p:spPr>
          <a:xfrm>
            <a:off x="0" y="6248400"/>
            <a:ext cx="469900" cy="469900"/>
          </a:xfrm>
          <a:prstGeom prst="line">
            <a:avLst/>
          </a:prstGeom>
          <a:ln w="2794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EUB Integrated - bottom horizontal">
            <a:extLst>
              <a:ext uri="{FF2B5EF4-FFF2-40B4-BE49-F238E27FC236}">
                <a16:creationId xmlns:a16="http://schemas.microsoft.com/office/drawing/2014/main" id="{B1038DD7-BFC3-60FC-A378-FA49435B80EE}"/>
              </a:ext>
            </a:extLst>
          </p:cNvPr>
          <p:cNvCxnSpPr/>
          <p:nvPr/>
        </p:nvCxnSpPr>
        <p:spPr>
          <a:xfrm>
            <a:off x="469900" y="6718300"/>
            <a:ext cx="11722100" cy="0"/>
          </a:xfrm>
          <a:prstGeom prst="line">
            <a:avLst/>
          </a:prstGeom>
          <a:ln w="17780">
            <a:solidFill>
              <a:srgbClr val="4305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CEUB Integrated - logo" descr="CEUB Educação Superior">
            <a:extLst>
              <a:ext uri="{FF2B5EF4-FFF2-40B4-BE49-F238E27FC236}">
                <a16:creationId xmlns:a16="http://schemas.microsoft.com/office/drawing/2014/main" id="{87A57372-2469-C273-CD1E-C74BA0A1970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63500"/>
            <a:ext cx="1193800" cy="54549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10972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0" y="14630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C0089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para consolidar</a:t>
            </a:r>
            <a:endParaRPr lang="en-US" sz="1200" b="1" dirty="0">
              <a:solidFill>
                <a:srgbClr val="EC0089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054E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Para casa (opcional):</a:t>
            </a:r>
            <a:endParaRPr lang="en-US" sz="2400" b="1" dirty="0">
              <a:solidFill>
                <a:srgbClr val="43054E"/>
              </a:solidFill>
              <a:latin typeface="Aptos Display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618488"/>
            <a:ext cx="10972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Implemente César e XOR (byte a byte) em qualquer linguagem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◦ cifrar/decifrar + força </a:t>
            </a:r>
            <a:r>
              <a:rPr lang="en-US" sz="1800" dirty="0" err="1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bruta</a:t>
            </a: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XOR</a:t>
            </a: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◦ </a:t>
            </a:r>
            <a:r>
              <a:rPr lang="en-US" dirty="0" err="1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</a:t>
            </a:r>
            <a:r>
              <a:rPr lang="en-US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XOR </a:t>
            </a:r>
            <a:r>
              <a:rPr lang="en-US" dirty="0" err="1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</a:t>
            </a:r>
            <a:r>
              <a:rPr lang="en-US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caracteres</a:t>
            </a:r>
            <a:r>
              <a:rPr lang="en-US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devem</a:t>
            </a:r>
            <a:r>
              <a:rPr lang="en-US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ASCII</a:t>
            </a:r>
            <a:endParaRPr lang="en-US" sz="1800" dirty="0">
              <a:solidFill>
                <a:srgbClr val="2A355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Traga 1 exemplo de “ofuscação” que não é criptografia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A3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◦ e explique por quê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651052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 fechada. Próxima: cifras de bloco, confusão/difusão e modos (ECB/CBC/CTR).</a:t>
            </a:r>
            <a:endParaRPr lang="en-US" sz="1000" dirty="0"/>
          </a:p>
        </p:txBody>
      </p:sp>
      <p:sp>
        <p:nvSpPr>
          <p:cNvPr id="10" name="CEUB Integrated - title marker">
            <a:extLst>
              <a:ext uri="{FF2B5EF4-FFF2-40B4-BE49-F238E27FC236}">
                <a16:creationId xmlns:a16="http://schemas.microsoft.com/office/drawing/2014/main" id="{4D4E8708-55F7-8183-082C-E712691D16CE}"/>
              </a:ext>
            </a:extLst>
          </p:cNvPr>
          <p:cNvSpPr/>
          <p:nvPr/>
        </p:nvSpPr>
        <p:spPr>
          <a:xfrm>
            <a:off x="500380" y="1076960"/>
            <a:ext cx="57150" cy="406400"/>
          </a:xfrm>
          <a:prstGeom prst="rect">
            <a:avLst/>
          </a:prstGeom>
          <a:solidFill>
            <a:srgbClr val="EC008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EUB Integrated - top diagonal">
            <a:extLst>
              <a:ext uri="{FF2B5EF4-FFF2-40B4-BE49-F238E27FC236}">
                <a16:creationId xmlns:a16="http://schemas.microsoft.com/office/drawing/2014/main" id="{AE41FD18-7EFB-55F8-34D4-E68D1460F8AF}"/>
              </a:ext>
            </a:extLst>
          </p:cNvPr>
          <p:cNvCxnSpPr/>
          <p:nvPr/>
        </p:nvCxnSpPr>
        <p:spPr>
          <a:xfrm>
            <a:off x="9804400" y="0"/>
            <a:ext cx="46990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EUB Integrated - top horizontal">
            <a:extLst>
              <a:ext uri="{FF2B5EF4-FFF2-40B4-BE49-F238E27FC236}">
                <a16:creationId xmlns:a16="http://schemas.microsoft.com/office/drawing/2014/main" id="{D64222FB-845C-A7EC-2D43-FB97E6A269C6}"/>
              </a:ext>
            </a:extLst>
          </p:cNvPr>
          <p:cNvCxnSpPr/>
          <p:nvPr/>
        </p:nvCxnSpPr>
        <p:spPr>
          <a:xfrm>
            <a:off x="10274300" y="520700"/>
            <a:ext cx="1828800" cy="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EUB Integrated - top vertical">
            <a:extLst>
              <a:ext uri="{FF2B5EF4-FFF2-40B4-BE49-F238E27FC236}">
                <a16:creationId xmlns:a16="http://schemas.microsoft.com/office/drawing/2014/main" id="{75B567B6-180C-01B9-9C9A-A033ED9E41F1}"/>
              </a:ext>
            </a:extLst>
          </p:cNvPr>
          <p:cNvCxnSpPr/>
          <p:nvPr/>
        </p:nvCxnSpPr>
        <p:spPr>
          <a:xfrm flipV="1">
            <a:off x="12103100" y="0"/>
            <a:ext cx="0" cy="520700"/>
          </a:xfrm>
          <a:prstGeom prst="line">
            <a:avLst/>
          </a:prstGeom>
          <a:ln w="3175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EUB Integrated - bottom diagonal">
            <a:extLst>
              <a:ext uri="{FF2B5EF4-FFF2-40B4-BE49-F238E27FC236}">
                <a16:creationId xmlns:a16="http://schemas.microsoft.com/office/drawing/2014/main" id="{340C0458-1BC7-1719-BB9E-3BA19F902ADC}"/>
              </a:ext>
            </a:extLst>
          </p:cNvPr>
          <p:cNvCxnSpPr/>
          <p:nvPr/>
        </p:nvCxnSpPr>
        <p:spPr>
          <a:xfrm>
            <a:off x="0" y="6248400"/>
            <a:ext cx="469900" cy="469900"/>
          </a:xfrm>
          <a:prstGeom prst="line">
            <a:avLst/>
          </a:prstGeom>
          <a:ln w="27940">
            <a:solidFill>
              <a:srgbClr val="EC00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EUB Integrated - bottom horizontal">
            <a:extLst>
              <a:ext uri="{FF2B5EF4-FFF2-40B4-BE49-F238E27FC236}">
                <a16:creationId xmlns:a16="http://schemas.microsoft.com/office/drawing/2014/main" id="{5BCAC9AB-4A48-6DC3-F98A-321C31D1D4B5}"/>
              </a:ext>
            </a:extLst>
          </p:cNvPr>
          <p:cNvCxnSpPr/>
          <p:nvPr/>
        </p:nvCxnSpPr>
        <p:spPr>
          <a:xfrm>
            <a:off x="469900" y="6718300"/>
            <a:ext cx="11722100" cy="0"/>
          </a:xfrm>
          <a:prstGeom prst="line">
            <a:avLst/>
          </a:prstGeom>
          <a:ln w="17780">
            <a:solidFill>
              <a:srgbClr val="4305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CEUB Integrated - logo" descr="CEUB Educação Superior">
            <a:extLst>
              <a:ext uri="{FF2B5EF4-FFF2-40B4-BE49-F238E27FC236}">
                <a16:creationId xmlns:a16="http://schemas.microsoft.com/office/drawing/2014/main" id="{6108E5FF-8F5D-6012-A948-B1888D75F24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896600" y="63500"/>
            <a:ext cx="1193800" cy="5454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2164</Words>
  <Application>Microsoft Office PowerPoint</Application>
  <PresentationFormat>Widescreen</PresentationFormat>
  <Paragraphs>348</Paragraphs>
  <Slides>26</Slides>
  <Notes>26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2" baseType="lpstr">
      <vt:lpstr>Aptos</vt:lpstr>
      <vt:lpstr>Aptos Display</vt:lpstr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CEUB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Introdução à Segurança Cibernética - Aula 1</dc:subject>
  <dc:creator>Prof.</dc:creator>
  <cp:lastModifiedBy>Joao Vitor de Sa Hauck</cp:lastModifiedBy>
  <cp:revision>12</cp:revision>
  <dcterms:created xsi:type="dcterms:W3CDTF">2026-02-11T01:22:47Z</dcterms:created>
  <dcterms:modified xsi:type="dcterms:W3CDTF">2026-07-25T04:13:44Z</dcterms:modified>
</cp:coreProperties>
</file>