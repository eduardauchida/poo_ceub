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88720"/>
            <a:ext cx="864826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Aula 2 — Criptografia Simétrica</a:t>
            </a:r>
            <a:b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</a:b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(DES, 3DES, AES + CBC/CTR/GCM)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  <a:latin typeface="Calibri"/>
              </a:defRPr>
            </a:pPr>
            <a:r>
              <a:t>Conceitos • Modos de operação em detalhe • Integridade (AEAD) • Erros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34395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Calibri"/>
              </a:defRPr>
            </a:pPr>
            <a:r>
              <a:rPr dirty="0" err="1"/>
              <a:t>Introdução</a:t>
            </a:r>
            <a:r>
              <a:rPr dirty="0"/>
              <a:t> à </a:t>
            </a:r>
            <a:r>
              <a:rPr dirty="0" err="1"/>
              <a:t>Segurança</a:t>
            </a:r>
            <a:r>
              <a:rPr dirty="0"/>
              <a:t> </a:t>
            </a:r>
            <a:r>
              <a:rPr dirty="0" err="1"/>
              <a:t>Cibernética</a:t>
            </a:r>
            <a:r>
              <a:rPr dirty="0"/>
              <a:t> • Aula 2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9232494D-236B-7E8F-CAE6-09748926929A}"/>
              </a:ext>
            </a:extLst>
          </p:cNvPr>
          <p:cNvSpPr/>
          <p:nvPr/>
        </p:nvSpPr>
        <p:spPr>
          <a:xfrm>
            <a:off x="535305" y="121412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B33A838C-3946-0A8C-EC34-016E8E287EB5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2F83D844-35F4-ED1C-E662-AE3913ED7AC9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839F01DB-02FE-5D16-D90F-E4B20282EA75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2FA469CC-6EED-D7E0-8B43-C4705CF91749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775104B9-7D59-4A4C-AAB7-6A738399F488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EUB Integrated - cover rail">
            <a:extLst>
              <a:ext uri="{FF2B5EF4-FFF2-40B4-BE49-F238E27FC236}">
                <a16:creationId xmlns:a16="http://schemas.microsoft.com/office/drawing/2014/main" id="{082C1373-829A-C72B-ABD2-E7432501F474}"/>
              </a:ext>
            </a:extLst>
          </p:cNvPr>
          <p:cNvSpPr/>
          <p:nvPr/>
        </p:nvSpPr>
        <p:spPr>
          <a:xfrm>
            <a:off x="0" y="0"/>
            <a:ext cx="66675" cy="685800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F31D0093-BBCD-3131-EA1E-A795FBC0138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74556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Onde estamos no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Aula 1: cifras clássicas (César, substituição, XOR) — por que são quebráveis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Aula 2 (hoje): criptografia simétrica moderna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Próximas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Distribuição de chaves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Criptografia assimétrica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Hash/MAC/assinatura (integridade e autoria)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Depois: segurança de sistemas, redes, CTF e avaliações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Calibri"/>
              </a:defRPr>
            </a:pPr>
            <a:r>
              <a:t>Introdução à Segurança Cibernética • Aula 2 • 3h</a:t>
            </a:r>
          </a:p>
        </p:txBody>
      </p:sp>
      <p:sp>
        <p:nvSpPr>
          <p:cNvPr id="8" name="CEUB Integrated - title marker">
            <a:extLst>
              <a:ext uri="{FF2B5EF4-FFF2-40B4-BE49-F238E27FC236}">
                <a16:creationId xmlns:a16="http://schemas.microsoft.com/office/drawing/2014/main" id="{056ADCB2-D4D8-E523-93F5-8C2F4ECF1486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EUB Integrated - top diagonal">
            <a:extLst>
              <a:ext uri="{FF2B5EF4-FFF2-40B4-BE49-F238E27FC236}">
                <a16:creationId xmlns:a16="http://schemas.microsoft.com/office/drawing/2014/main" id="{6E1D81C3-7861-50FF-E6F5-4A4730D78E47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horizontal">
            <a:extLst>
              <a:ext uri="{FF2B5EF4-FFF2-40B4-BE49-F238E27FC236}">
                <a16:creationId xmlns:a16="http://schemas.microsoft.com/office/drawing/2014/main" id="{9F5A4AF7-F288-3784-1F51-26B879CF3E0E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vertical">
            <a:extLst>
              <a:ext uri="{FF2B5EF4-FFF2-40B4-BE49-F238E27FC236}">
                <a16:creationId xmlns:a16="http://schemas.microsoft.com/office/drawing/2014/main" id="{2FC312D7-28DB-9082-2BCD-C832AA6D0CD5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diagonal">
            <a:extLst>
              <a:ext uri="{FF2B5EF4-FFF2-40B4-BE49-F238E27FC236}">
                <a16:creationId xmlns:a16="http://schemas.microsoft.com/office/drawing/2014/main" id="{44BBD96D-31A7-CF6F-C88B-797D5DD24045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horizontal">
            <a:extLst>
              <a:ext uri="{FF2B5EF4-FFF2-40B4-BE49-F238E27FC236}">
                <a16:creationId xmlns:a16="http://schemas.microsoft.com/office/drawing/2014/main" id="{ABE19DB3-AADE-87AB-7149-6A650F45F59D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9681F4A5-D8FA-C840-A234-BA6BA645B21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Criptografia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43148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Objetivos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Entender o que é criptografia simétrica e por que ela é tão usada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Explicar DES e 3DES em alto nível (histórico + limitações)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Entender AES como cifra de bloco moderna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Aprofundar modos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CBC (IV + padding)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CTR (nonce + contador)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GCM (AEAD: cifra + autentica)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Sair com um checklist de boas práticas (o que escolher e o que evitar)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ECB78B27-D164-4DC6-0C78-62F734769D18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223FD3C8-6640-B091-8C6B-743E960E7E2B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16F49FAB-FECC-0806-5056-0FEDADF5C13F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2149A8ED-FFD8-7C83-8A1D-8ED96EF97534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F87D41BC-8EC8-FE59-B200-DD69F8351D0B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46C400A4-ECED-AD83-768F-8CD6E818EFB5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6969F891-20CA-DAB0-7C10-3C84B943D1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Criptografia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6137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Bloco vs fluxo (revisão rápida)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Cifra de bloco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Transforma blocos fixos (DES 64b, AES 128b)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Exige modo para mensagens longas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Cifra de fluxo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Gera um keystream e cifra via XOR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Nonce nunca deve repetir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 maioria dos erros na prática vem de: modo/IV/nonce/autenticação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C4E54F76-0B01-BC22-12DE-14F989567451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79BC4617-B79A-4EBD-EB4F-19F9377DD9EE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678287DE-3261-8ED6-5E94-2139D1AAF8C8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6486EC78-7276-82FE-8C4F-092C8D332B42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E3498C93-53EF-4E52-D6ED-FBD6A7B03088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6A2D92DD-7E16-8E80-6675-88FE2C216D64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9FE33F61-3B90-075E-AA4D-3653040AF03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8706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DES (alto nível)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O que é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Cifra de bloco (64 bits) baseada em rede de Feistel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Chave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56 bits efetivos (pequena hoje)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Rodadas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16 rodadas; S-boxes + permutações (confusão/difusão)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Por que virou legado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Força bruta viável + bloco 64b é limitante em grandes volumes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D8B8229A-B29F-7738-F67D-4662106EF52D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A7EB9D1B-4BF3-DD85-4A5F-A1B16F176894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FE3100F0-A604-819D-6BE2-C24E54A4E8E3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85CAE041-F3CB-F429-D22A-C3269FA1F37E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058D9E1E-FB1E-2E06-38A5-0A9CE2E0B0CE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090C27CD-05D2-E425-400D-9E4E10F130DC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75BD7741-0B59-8B71-A527-8CC41617F9F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996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Rede de Feistel (ideia)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Divide o bloco em duas metades (L e R)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Em cada rodada: R vira entrada de uma função F (com subchave)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O resultado de F é XOR com L, e as metades trocam de lugar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Vantagem didática: mesma estrutura para cifrar e decifrar (com subchaves invertidas)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D5BC6F06-5129-3F9E-C057-127D3F57FECA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024DFE6D-4A86-5F74-2831-5C2ECC3BB1E3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ED629B09-E68B-10EB-0EFD-32AE35258EB4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CAE11BA3-E54C-E028-2160-6973A29679ED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1F7CDE0E-172A-D885-3D61-D7F2CFA3A627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84EAEBCE-1CC8-8DB6-5F1A-0B362732906E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6FA8D476-CC0D-5FDB-2087-5BE2451DAC4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44617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3DES (Triple 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Motivação histórica: “reforçar” o DES sem trocar toda a infraestrutura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Como funciona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Aplicar DES 3 vezes (com 2 ou 3 chaves)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Forma comum: EDE (Encrypt–Decrypt–Encrypt)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Situação atual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TDEA/3DES foi descontinuado pelo NIST em 2024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Blocos de 64 bits limitam o volume seguro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Projetos novos devem usar AES</a:t>
            </a:r>
            <a:endParaRPr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5DD297-55E3-8334-974C-26E2F5F0AE87}"/>
              </a:ext>
            </a:extLst>
          </p:cNvPr>
          <p:cNvSpPr txBox="1"/>
          <p:nvPr/>
        </p:nvSpPr>
        <p:spPr>
          <a:xfrm>
            <a:off x="1270000" y="4514830"/>
            <a:ext cx="6604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r>
              <a:rPr lang="pt-BR" sz="1400" b="1">
                <a:solidFill>
                  <a:srgbClr val="2563EB"/>
                </a:solidFill>
                <a:latin typeface="Aptos" panose="020B0004020202020204" pitchFamily="34" charset="0"/>
              </a:rPr>
              <a:t>Fluxo EDE do 3DES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EC2D106-DE11-F831-442E-8596FA4C2EDA}"/>
              </a:ext>
            </a:extLst>
          </p:cNvPr>
          <p:cNvSpPr/>
          <p:nvPr/>
        </p:nvSpPr>
        <p:spPr>
          <a:xfrm>
            <a:off x="1270000" y="4953000"/>
            <a:ext cx="1524000" cy="660400"/>
          </a:xfrm>
          <a:prstGeom prst="roundRect">
            <a:avLst/>
          </a:prstGeom>
          <a:solidFill>
            <a:srgbClr val="F9F2FA"/>
          </a:solidFill>
          <a:ln w="15875"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rIns="152400" bIns="63500" rtlCol="0" anchor="ctr"/>
          <a:lstStyle/>
          <a:p>
            <a:pPr algn="ctr"/>
            <a:r>
              <a:rPr lang="pt-BR" sz="2000" b="1">
                <a:solidFill>
                  <a:srgbClr val="161F2D"/>
                </a:solidFill>
                <a:latin typeface="Aptos" panose="020B0004020202020204" pitchFamily="34" charset="0"/>
              </a:rPr>
              <a:t>Eₖ₁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7D7AC9-3821-F24A-8BF6-5D5E51A6238D}"/>
              </a:ext>
            </a:extLst>
          </p:cNvPr>
          <p:cNvSpPr txBox="1"/>
          <p:nvPr/>
        </p:nvSpPr>
        <p:spPr>
          <a:xfrm>
            <a:off x="2819400" y="5092700"/>
            <a:ext cx="965200" cy="436017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pPr algn="ctr"/>
            <a:r>
              <a:rPr lang="pt-BR" sz="2500" b="1">
                <a:solidFill>
                  <a:srgbClr val="2563EB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964DDD-CD20-898B-9D5C-4A467BFC9BD7}"/>
              </a:ext>
            </a:extLst>
          </p:cNvPr>
          <p:cNvSpPr/>
          <p:nvPr/>
        </p:nvSpPr>
        <p:spPr>
          <a:xfrm>
            <a:off x="3810000" y="4953000"/>
            <a:ext cx="1524000" cy="660400"/>
          </a:xfrm>
          <a:prstGeom prst="roundRect">
            <a:avLst/>
          </a:prstGeom>
          <a:solidFill>
            <a:srgbClr val="F9F2FA"/>
          </a:solidFill>
          <a:ln w="15875"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rIns="152400" bIns="63500" rtlCol="0" anchor="ctr"/>
          <a:lstStyle/>
          <a:p>
            <a:pPr algn="ctr"/>
            <a:r>
              <a:rPr lang="pt-BR" sz="2000" b="1">
                <a:solidFill>
                  <a:srgbClr val="161F2D"/>
                </a:solidFill>
                <a:latin typeface="Aptos" panose="020B0004020202020204" pitchFamily="34" charset="0"/>
              </a:rPr>
              <a:t>Dₖ₂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6B1111-1851-8F85-08EF-5F9C36827746}"/>
              </a:ext>
            </a:extLst>
          </p:cNvPr>
          <p:cNvSpPr txBox="1"/>
          <p:nvPr/>
        </p:nvSpPr>
        <p:spPr>
          <a:xfrm>
            <a:off x="5359400" y="5092700"/>
            <a:ext cx="965200" cy="436017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pPr algn="ctr"/>
            <a:r>
              <a:rPr lang="pt-BR" sz="2500" b="1">
                <a:solidFill>
                  <a:srgbClr val="2563EB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EFF76AE-63FB-68F0-F9AE-66D1FD105649}"/>
              </a:ext>
            </a:extLst>
          </p:cNvPr>
          <p:cNvSpPr/>
          <p:nvPr/>
        </p:nvSpPr>
        <p:spPr>
          <a:xfrm>
            <a:off x="6350000" y="4953000"/>
            <a:ext cx="1524000" cy="660400"/>
          </a:xfrm>
          <a:prstGeom prst="roundRect">
            <a:avLst/>
          </a:prstGeom>
          <a:solidFill>
            <a:srgbClr val="F9F2FA"/>
          </a:solidFill>
          <a:ln w="15875"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rIns="152400" bIns="63500" rtlCol="0" anchor="ctr"/>
          <a:lstStyle/>
          <a:p>
            <a:pPr algn="ctr"/>
            <a:r>
              <a:rPr lang="pt-BR" sz="2000" b="1">
                <a:solidFill>
                  <a:srgbClr val="161F2D"/>
                </a:solidFill>
                <a:latin typeface="Aptos" panose="020B0004020202020204" pitchFamily="34" charset="0"/>
              </a:rPr>
              <a:t>Eₖ₃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2640CB-DF5D-114F-A974-CDB71D9895EF}"/>
              </a:ext>
            </a:extLst>
          </p:cNvPr>
          <p:cNvSpPr txBox="1"/>
          <p:nvPr/>
        </p:nvSpPr>
        <p:spPr>
          <a:xfrm>
            <a:off x="1270000" y="5763462"/>
            <a:ext cx="660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pPr algn="ctr"/>
            <a:r>
              <a:rPr lang="pt-BR" sz="1100">
                <a:solidFill>
                  <a:srgbClr val="4B5563"/>
                </a:solidFill>
                <a:latin typeface="Aptos" panose="020B0004020202020204" pitchFamily="34" charset="0"/>
              </a:rPr>
              <a:t>Encrypt → Decrypt → Encrypt, normalmente com duas ou três chaves.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67058D-E4DB-11C4-4FE1-D2854355CE43}"/>
              </a:ext>
            </a:extLst>
          </p:cNvPr>
          <p:cNvSpPr txBox="1"/>
          <p:nvPr/>
        </p:nvSpPr>
        <p:spPr>
          <a:xfrm>
            <a:off x="914400" y="6427895"/>
            <a:ext cx="7315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pPr algn="ctr"/>
            <a:r>
              <a:rPr lang="pt-BR" sz="800">
                <a:solidFill>
                  <a:srgbClr val="64748B"/>
                </a:solidFill>
                <a:latin typeface="Aptos" panose="020B0004020202020204" pitchFamily="34" charset="0"/>
              </a:rPr>
              <a:t>Fonte: NIST — retirada do TDEA de uso aprovado em 01/01/2024.</a:t>
            </a:r>
          </a:p>
        </p:txBody>
      </p:sp>
      <p:sp>
        <p:nvSpPr>
          <p:cNvPr id="15" name="CEUB Integrated - title marker">
            <a:extLst>
              <a:ext uri="{FF2B5EF4-FFF2-40B4-BE49-F238E27FC236}">
                <a16:creationId xmlns:a16="http://schemas.microsoft.com/office/drawing/2014/main" id="{746DB62D-C5D0-906B-183D-6D29BC2C725C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EUB Integrated - top diagonal">
            <a:extLst>
              <a:ext uri="{FF2B5EF4-FFF2-40B4-BE49-F238E27FC236}">
                <a16:creationId xmlns:a16="http://schemas.microsoft.com/office/drawing/2014/main" id="{39BC6BDA-7519-6083-1C73-B5E4D61963A9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top horizontal">
            <a:extLst>
              <a:ext uri="{FF2B5EF4-FFF2-40B4-BE49-F238E27FC236}">
                <a16:creationId xmlns:a16="http://schemas.microsoft.com/office/drawing/2014/main" id="{C5A2FB4A-451C-6381-543A-DDCA093A0B29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top vertical">
            <a:extLst>
              <a:ext uri="{FF2B5EF4-FFF2-40B4-BE49-F238E27FC236}">
                <a16:creationId xmlns:a16="http://schemas.microsoft.com/office/drawing/2014/main" id="{8E2F0943-FDCA-A109-AFA4-05FF20F46602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EUB Integrated - bottom diagonal">
            <a:extLst>
              <a:ext uri="{FF2B5EF4-FFF2-40B4-BE49-F238E27FC236}">
                <a16:creationId xmlns:a16="http://schemas.microsoft.com/office/drawing/2014/main" id="{97DA851D-F357-B6FF-A7BF-5AB407B77D22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EUB Integrated - bottom horizontal">
            <a:extLst>
              <a:ext uri="{FF2B5EF4-FFF2-40B4-BE49-F238E27FC236}">
                <a16:creationId xmlns:a16="http://schemas.microsoft.com/office/drawing/2014/main" id="{33487051-C6E4-2758-AB84-235249CC0B55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CEUB Integrated - logo" descr="CEUB Educação Superior">
            <a:extLst>
              <a:ext uri="{FF2B5EF4-FFF2-40B4-BE49-F238E27FC236}">
                <a16:creationId xmlns:a16="http://schemas.microsoft.com/office/drawing/2014/main" id="{0DA02D89-3246-D286-A352-48BFB9AF45E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419884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AES (visão geral)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O que é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Cifra de bloco de 128 bits (padrão moderno)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Chaves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128 / 192 / 256 bits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Rodadas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10 / 12 / 14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Por que é padrão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Muito analisado, rápido, aceleração em hardware (AES-NI)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AES cifra UM bloco → precisamos de modos (CBC/CTR/GCM)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DF3DC26A-C840-4899-DF70-DAA9E4E542E2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625F2F9F-057D-A695-65CC-A4A907360806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9A872A7D-4829-A1DF-760C-433B3B22175F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DCCA7632-1C76-0DDA-7427-5E21A75EE7E5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D744F4EC-BF7B-2DB4-D6B8-4D4FB65FE8EF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D35F35BE-D415-BC17-7160-F958F40EE631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27BE97A3-F245-FC12-A7CD-5E3748B94C4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Modos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" y="822960"/>
            <a:ext cx="926484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Por </a:t>
            </a:r>
            <a:r>
              <a:rPr b="1" dirty="0" err="1">
                <a:solidFill>
                  <a:srgbClr val="43054E"/>
                </a:solidFill>
                <a:latin typeface="Aptos Display" panose="020B0004020202020204" pitchFamily="34" charset="0"/>
              </a:rPr>
              <a:t>que</a:t>
            </a: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 </a:t>
            </a:r>
            <a:r>
              <a:rPr b="1" dirty="0" err="1">
                <a:solidFill>
                  <a:srgbClr val="43054E"/>
                </a:solidFill>
                <a:latin typeface="Aptos Display" panose="020B0004020202020204" pitchFamily="34" charset="0"/>
              </a:rPr>
              <a:t>modos</a:t>
            </a: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 de </a:t>
            </a:r>
            <a:r>
              <a:rPr b="1" dirty="0" err="1">
                <a:solidFill>
                  <a:srgbClr val="43054E"/>
                </a:solidFill>
                <a:latin typeface="Aptos Display" panose="020B0004020202020204" pitchFamily="34" charset="0"/>
              </a:rPr>
              <a:t>operação</a:t>
            </a: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 </a:t>
            </a:r>
            <a:r>
              <a:rPr b="1" dirty="0" err="1">
                <a:solidFill>
                  <a:srgbClr val="43054E"/>
                </a:solidFill>
                <a:latin typeface="Aptos Display" panose="020B0004020202020204" pitchFamily="34" charset="0"/>
              </a:rPr>
              <a:t>importam</a:t>
            </a:r>
            <a:endParaRPr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Sem modo, AES só cifra 16 bytes por vez (um bloco)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O modo define como encadear blocos e como usar IV/nonce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Um AES “perfeito” com modo errado vira inseguro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Hoje: CBC, CTR e GCM (o que mais aparece no mundo real)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BC57B84F-5ADB-8DD5-07D5-183B128982B8}"/>
              </a:ext>
            </a:extLst>
          </p:cNvPr>
          <p:cNvSpPr/>
          <p:nvPr/>
        </p:nvSpPr>
        <p:spPr>
          <a:xfrm>
            <a:off x="4762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6D88FFAC-BBD0-33D1-7E73-FE8B2F5AD26C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2137D2F2-BB88-93DC-9CD8-14D4B289556C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B6B0E333-91CC-082B-1E95-79CD14F3C483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73B4CB7D-A263-98AD-2CB1-2AF9694DB37C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437277EA-225E-0171-BDD1-13FF4FD74D37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EA5CA874-FAD2-3993-D4CD-84C0268795E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AES-CBC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08309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CBC (Cipher Block Chaining)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Ideia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Antes de cifrar, cada bloco Pᵢ é XOR com o bloco cifrado anterior Cᵢ₋₁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IV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Serve como C₀; deve ser imprevisível (aleatório)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Padding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Necessário (ex.: PKCS#7) quando o tamanho não fecha no bloco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Importante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CBC NÃO garante integridade → precisa MAC (Encrypt-then-MAC) ou usar AEAD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97273306-C1E8-C3F2-0D17-4009D9A1A6C2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EEEE4C4C-5C7A-86FB-A0E3-8A2870306875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D31DB525-0EE8-8471-DD3F-15026A69B8C0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2B099FC6-F984-FB54-4CF0-205A67BB88B3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2BCA39C2-7A4F-2294-41C8-CA30903A0BF7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3DBC113E-8FBF-A5A5-5E98-AA7AE772C1DC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30A90661-A9A4-EA0C-BB38-D9F42C9E81A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AES-CBC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979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CBC — fórmulas e erros comuns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6638544" cy="1554480"/>
          </a:xfrm>
          <a:prstGeom prst="rect">
            <a:avLst/>
          </a:prstGeom>
          <a:solidFill>
            <a:srgbClr val="F9F2FA"/>
          </a:solidFill>
          <a:ln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Consolas"/>
              </a:defRPr>
            </a:pPr>
            <a:r>
              <a:t>C₀ = IV</a:t>
            </a:r>
            <a:br/>
            <a:r>
              <a:t>Cᵢ = AES_K(Pᵢ ⊕ Cᵢ₋₁)</a:t>
            </a:r>
            <a:br/>
            <a:r>
              <a:t>Pᵢ = AES⁻¹_K(Cᵢ) ⊕ Cᵢ₋₁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Erro 1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IV fixo ou previsível → pode vazar padrões / facilitar ataques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Erro 2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não autenticar → malleability (bit flipping)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Erro 3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tratamento de erro diferente em padding → padding oracle</a:t>
            </a:r>
          </a:p>
        </p:txBody>
      </p:sp>
      <p:sp>
        <p:nvSpPr>
          <p:cNvPr id="8" name="CEUB Integrated - title marker">
            <a:extLst>
              <a:ext uri="{FF2B5EF4-FFF2-40B4-BE49-F238E27FC236}">
                <a16:creationId xmlns:a16="http://schemas.microsoft.com/office/drawing/2014/main" id="{A420ACC0-02E3-DBC8-7A11-492483EE30B0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EUB Integrated - top diagonal">
            <a:extLst>
              <a:ext uri="{FF2B5EF4-FFF2-40B4-BE49-F238E27FC236}">
                <a16:creationId xmlns:a16="http://schemas.microsoft.com/office/drawing/2014/main" id="{906C085A-70A6-574A-F8ED-317CBBDE1D83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horizontal">
            <a:extLst>
              <a:ext uri="{FF2B5EF4-FFF2-40B4-BE49-F238E27FC236}">
                <a16:creationId xmlns:a16="http://schemas.microsoft.com/office/drawing/2014/main" id="{BF0C983B-0318-AF42-6F71-D16A518EC21A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vertical">
            <a:extLst>
              <a:ext uri="{FF2B5EF4-FFF2-40B4-BE49-F238E27FC236}">
                <a16:creationId xmlns:a16="http://schemas.microsoft.com/office/drawing/2014/main" id="{DF340784-CA7C-6B17-CE7E-CCBD04CF2233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diagonal">
            <a:extLst>
              <a:ext uri="{FF2B5EF4-FFF2-40B4-BE49-F238E27FC236}">
                <a16:creationId xmlns:a16="http://schemas.microsoft.com/office/drawing/2014/main" id="{54407AA6-6330-155A-5770-285B4ACE770B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horizontal">
            <a:extLst>
              <a:ext uri="{FF2B5EF4-FFF2-40B4-BE49-F238E27FC236}">
                <a16:creationId xmlns:a16="http://schemas.microsoft.com/office/drawing/2014/main" id="{1E4CC23A-EE86-8C51-B3A1-221D7892FD7A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0B6EB958-7F7A-06FF-841C-093160FAAA8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AES-CTR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0550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CTR (Counter) — em detalhe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Ideia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AES cifra (nonce || contador) para gerar keystream KSᵢ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Cifra/decifra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Cᵢ = Pᵢ ⊕ KSᵢ  e  Pᵢ = Cᵢ ⊕ KSᵢ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Vantagens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Não precisa padding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Paralelizável (rápido)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Regra de ouro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Nonce NUNCA pode repetir com a mesma chave (se repetir: quebra)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CTR também não autentica → MAC ou AEAD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D21E4B7B-FEC4-0B0B-BD34-6A377A12101B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00C45895-2E3D-F998-95DF-A2E422086AAB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5CDA0C63-B435-894F-2CDE-899448E41C07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4243BCB4-5EE6-B6F6-3A74-914E558C23B3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3C3D6D8B-EA79-EC87-D841-5E3F94013F22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167D19B2-A792-79FC-4D54-16C47AD73922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4428A595-AE72-6F5E-DA87-784ABC97326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AES-CTR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94028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CTR — por que reusar nonce quebra tudo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7790688" cy="1554480"/>
          </a:xfrm>
          <a:prstGeom prst="rect">
            <a:avLst/>
          </a:prstGeom>
          <a:solidFill>
            <a:srgbClr val="F9F2FA"/>
          </a:solidFill>
          <a:ln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Consolas"/>
              </a:defRPr>
            </a:pPr>
            <a:r>
              <a:t>C1 = P1 ⊕ KS</a:t>
            </a:r>
            <a:br/>
            <a:r>
              <a:t>C2 = P2 ⊕ KS  (mesmo KS porque nonce repetiu)</a:t>
            </a:r>
            <a:br/>
            <a:r>
              <a:t>C1 ⊕ C2 = P1 ⊕ P2  (KS cancela!)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81473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atacante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vê</a:t>
            </a:r>
            <a:r>
              <a:rPr dirty="0"/>
              <a:t> P1 e P2 </a:t>
            </a:r>
            <a:r>
              <a:rPr dirty="0" err="1"/>
              <a:t>direto</a:t>
            </a:r>
            <a:r>
              <a:rPr dirty="0"/>
              <a:t>, mas </a:t>
            </a:r>
            <a:r>
              <a:rPr dirty="0" err="1"/>
              <a:t>ganha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entre </a:t>
            </a:r>
            <a:r>
              <a:rPr dirty="0" err="1"/>
              <a:t>elas</a:t>
            </a:r>
            <a:endParaRPr dirty="0"/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Com </a:t>
            </a:r>
            <a:r>
              <a:rPr dirty="0" err="1"/>
              <a:t>linguagem</a:t>
            </a:r>
            <a:r>
              <a:rPr dirty="0"/>
              <a:t> natural, </a:t>
            </a:r>
            <a:r>
              <a:rPr dirty="0" err="1"/>
              <a:t>dá</a:t>
            </a:r>
            <a:r>
              <a:rPr dirty="0"/>
              <a:t> para “</a:t>
            </a:r>
            <a:r>
              <a:rPr dirty="0" err="1"/>
              <a:t>chutar</a:t>
            </a:r>
            <a:r>
              <a:rPr dirty="0"/>
              <a:t>” </a:t>
            </a:r>
            <a:r>
              <a:rPr dirty="0" err="1"/>
              <a:t>trechos</a:t>
            </a:r>
            <a:r>
              <a:rPr dirty="0"/>
              <a:t> e </a:t>
            </a:r>
            <a:r>
              <a:rPr dirty="0" err="1"/>
              <a:t>recuperar</a:t>
            </a:r>
            <a:r>
              <a:rPr dirty="0"/>
              <a:t> o resto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Conclusão</a:t>
            </a:r>
            <a:r>
              <a:rPr dirty="0"/>
              <a:t>: nonce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chave</a:t>
            </a:r>
            <a:r>
              <a:rPr dirty="0"/>
              <a:t> é </a:t>
            </a:r>
            <a:r>
              <a:rPr dirty="0" err="1"/>
              <a:t>obrigatório</a:t>
            </a:r>
            <a:endParaRPr dirty="0"/>
          </a:p>
        </p:txBody>
      </p:sp>
      <p:sp>
        <p:nvSpPr>
          <p:cNvPr id="8" name="CEUB Integrated - title marker">
            <a:extLst>
              <a:ext uri="{FF2B5EF4-FFF2-40B4-BE49-F238E27FC236}">
                <a16:creationId xmlns:a16="http://schemas.microsoft.com/office/drawing/2014/main" id="{76910039-8C77-C47D-0F9B-03AF383B3405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EUB Integrated - top diagonal">
            <a:extLst>
              <a:ext uri="{FF2B5EF4-FFF2-40B4-BE49-F238E27FC236}">
                <a16:creationId xmlns:a16="http://schemas.microsoft.com/office/drawing/2014/main" id="{BF4E56F3-F08F-504C-F17B-7F34878F293F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horizontal">
            <a:extLst>
              <a:ext uri="{FF2B5EF4-FFF2-40B4-BE49-F238E27FC236}">
                <a16:creationId xmlns:a16="http://schemas.microsoft.com/office/drawing/2014/main" id="{4E68523F-80C6-C149-6AC3-0650FB354A9B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vertical">
            <a:extLst>
              <a:ext uri="{FF2B5EF4-FFF2-40B4-BE49-F238E27FC236}">
                <a16:creationId xmlns:a16="http://schemas.microsoft.com/office/drawing/2014/main" id="{2558167F-3E5B-044C-F0B9-6FE27C7D623D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diagonal">
            <a:extLst>
              <a:ext uri="{FF2B5EF4-FFF2-40B4-BE49-F238E27FC236}">
                <a16:creationId xmlns:a16="http://schemas.microsoft.com/office/drawing/2014/main" id="{318F4046-0248-5899-7389-09175C0C7565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horizontal">
            <a:extLst>
              <a:ext uri="{FF2B5EF4-FFF2-40B4-BE49-F238E27FC236}">
                <a16:creationId xmlns:a16="http://schemas.microsoft.com/office/drawing/2014/main" id="{05ABFA9F-B708-4B82-857C-521ABBCB85EC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F843F5C3-ABE8-A6A4-4587-5C0F4EE57CF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AES-GCM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0407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 dirty="0">
                <a:solidFill>
                  <a:srgbClr val="43054E"/>
                </a:solidFill>
                <a:latin typeface="Aptos Display" panose="020B0004020202020204" pitchFamily="34" charset="0"/>
              </a:rPr>
              <a:t>GCM (Galois/Counter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é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AEAD: </a:t>
            </a:r>
            <a:r>
              <a:rPr dirty="0" err="1"/>
              <a:t>cifra</a:t>
            </a:r>
            <a:r>
              <a:rPr dirty="0"/>
              <a:t> + </a:t>
            </a:r>
            <a:r>
              <a:rPr dirty="0" err="1"/>
              <a:t>autentica</a:t>
            </a:r>
            <a:r>
              <a:rPr dirty="0"/>
              <a:t> (</a:t>
            </a:r>
            <a:r>
              <a:rPr dirty="0" err="1"/>
              <a:t>confidencialidade</a:t>
            </a:r>
            <a:r>
              <a:rPr dirty="0"/>
              <a:t> + </a:t>
            </a:r>
            <a:r>
              <a:rPr dirty="0" err="1"/>
              <a:t>integridade</a:t>
            </a:r>
            <a:r>
              <a:rPr dirty="0"/>
              <a:t>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Como </a:t>
            </a:r>
            <a:r>
              <a:rPr dirty="0" err="1"/>
              <a:t>combina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CTR para </a:t>
            </a:r>
            <a:r>
              <a:rPr dirty="0" err="1"/>
              <a:t>cifrar</a:t>
            </a:r>
            <a:r>
              <a:rPr dirty="0"/>
              <a:t> + GHASH para </a:t>
            </a:r>
            <a:r>
              <a:rPr dirty="0" err="1"/>
              <a:t>gerar</a:t>
            </a:r>
            <a:r>
              <a:rPr dirty="0"/>
              <a:t> TAG (</a:t>
            </a:r>
            <a:r>
              <a:rPr dirty="0" err="1"/>
              <a:t>autenticação</a:t>
            </a:r>
            <a:r>
              <a:rPr dirty="0"/>
              <a:t>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AAD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Dados </a:t>
            </a:r>
            <a:r>
              <a:rPr dirty="0" err="1"/>
              <a:t>autenticados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cifrados</a:t>
            </a:r>
            <a:r>
              <a:rPr dirty="0"/>
              <a:t> (headers/</a:t>
            </a:r>
            <a:r>
              <a:rPr dirty="0" err="1"/>
              <a:t>metadados</a:t>
            </a:r>
            <a:r>
              <a:rPr dirty="0"/>
              <a:t>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Nonce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Deve ser </a:t>
            </a:r>
            <a:r>
              <a:rPr dirty="0" err="1"/>
              <a:t>único</a:t>
            </a:r>
            <a:r>
              <a:rPr dirty="0"/>
              <a:t>; </a:t>
            </a:r>
            <a:r>
              <a:rPr dirty="0" err="1"/>
              <a:t>prática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: 96 bits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Regra de </a:t>
            </a:r>
            <a:r>
              <a:rPr dirty="0" err="1"/>
              <a:t>ouro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Sempre </a:t>
            </a:r>
            <a:r>
              <a:rPr dirty="0" err="1"/>
              <a:t>verificar</a:t>
            </a:r>
            <a:r>
              <a:rPr dirty="0"/>
              <a:t> a TAG antes de </a:t>
            </a:r>
            <a:r>
              <a:rPr dirty="0" err="1"/>
              <a:t>aceitar</a:t>
            </a:r>
            <a:r>
              <a:rPr dirty="0"/>
              <a:t> a </a:t>
            </a:r>
            <a:r>
              <a:rPr dirty="0" err="1"/>
              <a:t>mensagem</a:t>
            </a:r>
            <a:endParaRPr dirty="0"/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FAB650E7-68CA-BB91-5395-FDBFC57B1307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D547BDEB-162B-F1E0-73AD-680B227C30B8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556BE7E4-4005-C6F2-429F-814B90F4B0AB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A9A18FA6-C02A-D676-9E28-26D8D3764B71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655A4270-F8C0-79AE-CC44-F3D621CA2B15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1F350DCF-977D-8776-4CC3-6568F4D326C1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EDFDB7A0-0E52-FF22-9D40-624FCEC4DFA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AES-GCM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77244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GCM — o que sai do “envelope”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7964424" cy="1645920"/>
          </a:xfrm>
          <a:prstGeom prst="rect">
            <a:avLst/>
          </a:prstGeom>
          <a:solidFill>
            <a:srgbClr val="F9F2FA"/>
          </a:solidFill>
          <a:ln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Consolas"/>
              </a:defRPr>
            </a:pPr>
            <a:r>
              <a:rPr dirty="0"/>
              <a:t>Entrada:  </a:t>
            </a:r>
            <a:r>
              <a:rPr dirty="0" err="1"/>
              <a:t>chave</a:t>
            </a:r>
            <a:r>
              <a:rPr dirty="0"/>
              <a:t> K, nonce N, plaintext P, AAD</a:t>
            </a:r>
            <a:br>
              <a:rPr dirty="0"/>
            </a:br>
            <a:r>
              <a:rPr dirty="0" err="1"/>
              <a:t>Saída</a:t>
            </a:r>
            <a:r>
              <a:rPr dirty="0"/>
              <a:t>:    ciphertext C, TAG T</a:t>
            </a:r>
            <a:br>
              <a:rPr dirty="0"/>
            </a:br>
            <a:r>
              <a:rPr dirty="0" err="1"/>
              <a:t>Verificação</a:t>
            </a:r>
            <a:r>
              <a:rPr dirty="0"/>
              <a:t>: se TAG </a:t>
            </a:r>
            <a:r>
              <a:rPr dirty="0" err="1"/>
              <a:t>inválida</a:t>
            </a:r>
            <a:r>
              <a:rPr dirty="0"/>
              <a:t> ⇒ </a:t>
            </a:r>
            <a:r>
              <a:rPr dirty="0" err="1"/>
              <a:t>descartar</a:t>
            </a:r>
            <a:r>
              <a:rPr dirty="0"/>
              <a:t> (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processar</a:t>
            </a:r>
            <a:r>
              <a:rPr dirty="0"/>
              <a:t> 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Por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bom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Detecta</a:t>
            </a:r>
            <a:r>
              <a:rPr dirty="0"/>
              <a:t> </a:t>
            </a:r>
            <a:r>
              <a:rPr dirty="0" err="1"/>
              <a:t>alteração</a:t>
            </a:r>
            <a:r>
              <a:rPr dirty="0"/>
              <a:t>/</a:t>
            </a:r>
            <a:r>
              <a:rPr dirty="0" err="1"/>
              <a:t>adulteração</a:t>
            </a:r>
            <a:endParaRPr dirty="0"/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Erro </a:t>
            </a:r>
            <a:r>
              <a:rPr dirty="0" err="1"/>
              <a:t>clássico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checar</a:t>
            </a:r>
            <a:r>
              <a:rPr dirty="0"/>
              <a:t> TAG → </a:t>
            </a:r>
            <a:r>
              <a:rPr dirty="0" err="1"/>
              <a:t>vira</a:t>
            </a:r>
            <a:r>
              <a:rPr dirty="0"/>
              <a:t> “</a:t>
            </a:r>
            <a:r>
              <a:rPr dirty="0" err="1"/>
              <a:t>cifra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integridade</a:t>
            </a:r>
            <a:r>
              <a:rPr dirty="0"/>
              <a:t>”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Erro fatal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reusar</a:t>
            </a:r>
            <a:r>
              <a:rPr dirty="0"/>
              <a:t> nonce em GCM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quebrar</a:t>
            </a:r>
            <a:r>
              <a:rPr dirty="0"/>
              <a:t> </a:t>
            </a:r>
            <a:r>
              <a:rPr dirty="0" err="1"/>
              <a:t>segurança</a:t>
            </a:r>
            <a:r>
              <a:rPr dirty="0"/>
              <a:t> (</a:t>
            </a:r>
            <a:r>
              <a:rPr dirty="0" err="1"/>
              <a:t>confidencialidade</a:t>
            </a:r>
            <a:r>
              <a:rPr dirty="0"/>
              <a:t> e/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integridade</a:t>
            </a:r>
            <a:r>
              <a:rPr dirty="0"/>
              <a:t>)</a:t>
            </a:r>
          </a:p>
        </p:txBody>
      </p:sp>
      <p:sp>
        <p:nvSpPr>
          <p:cNvPr id="8" name="CEUB Integrated - title marker">
            <a:extLst>
              <a:ext uri="{FF2B5EF4-FFF2-40B4-BE49-F238E27FC236}">
                <a16:creationId xmlns:a16="http://schemas.microsoft.com/office/drawing/2014/main" id="{815B78BB-9AA9-93DB-5AD6-654E20891DD5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EUB Integrated - top diagonal">
            <a:extLst>
              <a:ext uri="{FF2B5EF4-FFF2-40B4-BE49-F238E27FC236}">
                <a16:creationId xmlns:a16="http://schemas.microsoft.com/office/drawing/2014/main" id="{E55E2153-FEC8-9AC4-56CE-BD2E251E98FF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horizontal">
            <a:extLst>
              <a:ext uri="{FF2B5EF4-FFF2-40B4-BE49-F238E27FC236}">
                <a16:creationId xmlns:a16="http://schemas.microsoft.com/office/drawing/2014/main" id="{E52956F9-E31D-B5F0-57A2-9C0E634112E9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vertical">
            <a:extLst>
              <a:ext uri="{FF2B5EF4-FFF2-40B4-BE49-F238E27FC236}">
                <a16:creationId xmlns:a16="http://schemas.microsoft.com/office/drawing/2014/main" id="{F0E79190-7ACF-30B8-78D7-4AEB2F5B8EE5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diagonal">
            <a:extLst>
              <a:ext uri="{FF2B5EF4-FFF2-40B4-BE49-F238E27FC236}">
                <a16:creationId xmlns:a16="http://schemas.microsoft.com/office/drawing/2014/main" id="{0B9F2F59-9DC6-3E21-0F93-E44F0D3FF7C2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horizontal">
            <a:extLst>
              <a:ext uri="{FF2B5EF4-FFF2-40B4-BE49-F238E27FC236}">
                <a16:creationId xmlns:a16="http://schemas.microsoft.com/office/drawing/2014/main" id="{1F5DD170-4284-615E-F3A1-8F1A273D6DA1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6AD18ABD-8522-2DD1-E6E2-B43E9017E8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592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CBC vs CTR vs GCM (na prática)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84555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CBC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IV </a:t>
            </a:r>
            <a:r>
              <a:rPr dirty="0" err="1"/>
              <a:t>imprevisível</a:t>
            </a:r>
            <a:r>
              <a:rPr dirty="0"/>
              <a:t> + padding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Precisa</a:t>
            </a:r>
            <a:r>
              <a:rPr dirty="0"/>
              <a:t> MAC para </a:t>
            </a:r>
            <a:r>
              <a:rPr dirty="0" err="1"/>
              <a:t>integridade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lang="pt-BR" dirty="0"/>
              <a:t>Lento, mais afetado por erros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CTR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Nonce </a:t>
            </a:r>
            <a:r>
              <a:rPr dirty="0" err="1"/>
              <a:t>único</a:t>
            </a:r>
            <a:r>
              <a:rPr dirty="0"/>
              <a:t> + </a:t>
            </a:r>
            <a:r>
              <a:rPr dirty="0" err="1"/>
              <a:t>contador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Precisa</a:t>
            </a:r>
            <a:r>
              <a:rPr dirty="0"/>
              <a:t> MAC para </a:t>
            </a:r>
            <a:r>
              <a:rPr dirty="0" err="1"/>
              <a:t>integridade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Rápido</a:t>
            </a:r>
            <a:r>
              <a:rPr dirty="0"/>
              <a:t> e </a:t>
            </a:r>
            <a:r>
              <a:rPr dirty="0" err="1"/>
              <a:t>paralelizável</a:t>
            </a:r>
            <a:endParaRPr dirty="0"/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GCM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/>
              <a:t>Nonce </a:t>
            </a:r>
            <a:r>
              <a:rPr dirty="0" err="1"/>
              <a:t>único</a:t>
            </a:r>
            <a:endParaRPr dirty="0"/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TAG (AEAD)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rPr dirty="0" err="1"/>
              <a:t>Escolha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em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modernos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Calibri"/>
              </a:defRPr>
            </a:pPr>
            <a:r>
              <a:t>Introdução à Segurança Cibernética • Aula 2 • 3h</a:t>
            </a:r>
          </a:p>
        </p:txBody>
      </p:sp>
      <p:sp>
        <p:nvSpPr>
          <p:cNvPr id="8" name="CEUB Integrated - title marker">
            <a:extLst>
              <a:ext uri="{FF2B5EF4-FFF2-40B4-BE49-F238E27FC236}">
                <a16:creationId xmlns:a16="http://schemas.microsoft.com/office/drawing/2014/main" id="{808050A8-DF16-5B02-5CAA-B7C85589A38D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EUB Integrated - top diagonal">
            <a:extLst>
              <a:ext uri="{FF2B5EF4-FFF2-40B4-BE49-F238E27FC236}">
                <a16:creationId xmlns:a16="http://schemas.microsoft.com/office/drawing/2014/main" id="{1F2B85DE-F0CD-0048-F0B8-B956225212D4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horizontal">
            <a:extLst>
              <a:ext uri="{FF2B5EF4-FFF2-40B4-BE49-F238E27FC236}">
                <a16:creationId xmlns:a16="http://schemas.microsoft.com/office/drawing/2014/main" id="{99D6979A-1E41-1512-94D6-2CB71B39DE6B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vertical">
            <a:extLst>
              <a:ext uri="{FF2B5EF4-FFF2-40B4-BE49-F238E27FC236}">
                <a16:creationId xmlns:a16="http://schemas.microsoft.com/office/drawing/2014/main" id="{1D9983DC-6C65-5FEA-A5C9-B17AAD255BD4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diagonal">
            <a:extLst>
              <a:ext uri="{FF2B5EF4-FFF2-40B4-BE49-F238E27FC236}">
                <a16:creationId xmlns:a16="http://schemas.microsoft.com/office/drawing/2014/main" id="{B0473001-551A-15CF-3E63-8B8755D4AF58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horizontal">
            <a:extLst>
              <a:ext uri="{FF2B5EF4-FFF2-40B4-BE49-F238E27FC236}">
                <a16:creationId xmlns:a16="http://schemas.microsoft.com/office/drawing/2014/main" id="{BF213B66-7D85-DFA3-5E63-91FB81430F43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0CD71A55-B33C-C292-985A-B9BC21791C1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Boas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9479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O que evitar (lista curta)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DES e 3DES/TDEA em projetos novos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ECB (vaza padrões)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CBC/CTR sem integridade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Nonce/IV repetido (especialmente CTR/GCM)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lang="pt-BR"/>
              <a:t>Implementar “cripto caseira” em vez de bibliotecas revisadas</a:t>
            </a:r>
            <a:endParaRPr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180FAA3-8292-A3EA-E300-5FF04E40192C}"/>
              </a:ext>
            </a:extLst>
          </p:cNvPr>
          <p:cNvSpPr/>
          <p:nvPr/>
        </p:nvSpPr>
        <p:spPr>
          <a:xfrm>
            <a:off x="914400" y="4902200"/>
            <a:ext cx="7315200" cy="762000"/>
          </a:xfrm>
          <a:prstGeom prst="roundRect">
            <a:avLst/>
          </a:prstGeom>
          <a:solidFill>
            <a:srgbClr val="F9F2FA"/>
          </a:solidFill>
          <a:ln w="15875">
            <a:solidFill>
              <a:srgbClr val="DB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rIns="152400" bIns="63500" rtlCol="0" anchor="ctr"/>
          <a:lstStyle/>
          <a:p>
            <a:pPr algn="ctr"/>
            <a:r>
              <a:rPr lang="pt-BR" sz="1150" b="1">
                <a:solidFill>
                  <a:srgbClr val="991B1B"/>
                </a:solidFill>
                <a:latin typeface="Aptos" panose="020B0004020202020204" pitchFamily="34" charset="0"/>
              </a:rPr>
              <a:t>3DES/TDEA não é aprovado para novos usos: o NIST retirou o algoritmo de uso aprovado em 01/01/2024.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3219DD-22E0-D7EA-855D-0967132D40C6}"/>
              </a:ext>
            </a:extLst>
          </p:cNvPr>
          <p:cNvSpPr txBox="1"/>
          <p:nvPr/>
        </p:nvSpPr>
        <p:spPr>
          <a:xfrm>
            <a:off x="914400" y="5805595"/>
            <a:ext cx="73152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spAutoFit/>
          </a:bodyPr>
          <a:lstStyle/>
          <a:p>
            <a:pPr algn="ctr"/>
            <a:r>
              <a:rPr lang="pt-BR" sz="800">
                <a:solidFill>
                  <a:srgbClr val="64748B"/>
                </a:solidFill>
                <a:latin typeface="Aptos" panose="020B0004020202020204" pitchFamily="34" charset="0"/>
              </a:rPr>
              <a:t>Fonte: NIST SP 800-67 Rev. 2 — aviso de retirada.</a:t>
            </a:r>
          </a:p>
        </p:txBody>
      </p:sp>
      <p:sp>
        <p:nvSpPr>
          <p:cNvPr id="9" name="CEUB Integrated - title marker">
            <a:extLst>
              <a:ext uri="{FF2B5EF4-FFF2-40B4-BE49-F238E27FC236}">
                <a16:creationId xmlns:a16="http://schemas.microsoft.com/office/drawing/2014/main" id="{47DDCF05-1164-A896-1A58-3AD10D43290D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EUB Integrated - top diagonal">
            <a:extLst>
              <a:ext uri="{FF2B5EF4-FFF2-40B4-BE49-F238E27FC236}">
                <a16:creationId xmlns:a16="http://schemas.microsoft.com/office/drawing/2014/main" id="{C5686BE2-B679-FD3C-D513-84C06177E395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horizontal">
            <a:extLst>
              <a:ext uri="{FF2B5EF4-FFF2-40B4-BE49-F238E27FC236}">
                <a16:creationId xmlns:a16="http://schemas.microsoft.com/office/drawing/2014/main" id="{A4259EAF-1472-16FB-57D6-7FB71A760510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vertical">
            <a:extLst>
              <a:ext uri="{FF2B5EF4-FFF2-40B4-BE49-F238E27FC236}">
                <a16:creationId xmlns:a16="http://schemas.microsoft.com/office/drawing/2014/main" id="{A58285C5-6EEF-AE81-A62D-EFA1704008C1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diagonal">
            <a:extLst>
              <a:ext uri="{FF2B5EF4-FFF2-40B4-BE49-F238E27FC236}">
                <a16:creationId xmlns:a16="http://schemas.microsoft.com/office/drawing/2014/main" id="{ADE321A8-ED41-CFFF-581F-1A0DDEDD6996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horizontal">
            <a:extLst>
              <a:ext uri="{FF2B5EF4-FFF2-40B4-BE49-F238E27FC236}">
                <a16:creationId xmlns:a16="http://schemas.microsoft.com/office/drawing/2014/main" id="{8F3522F4-AE75-CF74-BB1C-E710F80D3FEA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CEUB Integrated - logo" descr="CEUB Educação Superior">
            <a:extLst>
              <a:ext uri="{FF2B5EF4-FFF2-40B4-BE49-F238E27FC236}">
                <a16:creationId xmlns:a16="http://schemas.microsoft.com/office/drawing/2014/main" id="{CE1C436A-F114-6C65-4A97-BD48F15CFF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Boas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0015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Escolha recomendada (regra prática)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Preferir AEAD por padrão: AES-GCM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Alternativa comum: ChaCha20-Poly1305 (especialmente sem AES-NI)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Gerar nonce/IV corretamente e nunca repetir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Guardar chaves com cuidado (KMS, cofres, rotação)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C0B6BE46-ACF9-3A6A-41E9-61504BAE0A49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4B8DE671-598F-71E6-F81F-478DC5349E47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15C42FA6-7E36-0922-FD93-46F86D1F31C2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587861E0-3EAD-2EC2-ED6F-F9EAB2DF7A64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ADE6D2B1-9B41-47DD-02A5-E6368E9897C9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7327927B-76CD-8A98-FEFA-33A1D3C0280A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236134C2-212E-0B55-CF08-9537E4358B6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2478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Identifique o erro (20–30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Caso A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AES-CBC com IV fixo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Caso B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AES-CTR com nonce repetido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Caso C</a:t>
            </a:r>
          </a:p>
          <a:p>
            <a:pPr lvl="1">
              <a:defRPr sz="1800">
                <a:solidFill>
                  <a:srgbClr val="141414"/>
                </a:solidFill>
                <a:latin typeface="Calibri"/>
              </a:defRPr>
            </a:pPr>
            <a:r>
              <a:t>AES-GCM sem verificar TAG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Para cada um: (1) o que dá errado? (2) como corrigir?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BC30F9A3-AEEA-3B54-F1BD-8050FFE9110D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1A367E80-F225-DABB-5DC3-C7AC6D56FBE7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1F07C7AA-D415-C216-50C5-B06083AF8409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CDEEE2F1-A780-1451-338C-012A2D245D83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DFD34709-8927-98AD-2E39-CFBCEEBA0E57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FB657BB2-8B9C-DBCC-D13E-69D387004D4E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10563D63-8CD2-A249-16CF-EC6AA4973FB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Calibri"/>
              </a:defRPr>
            </a:pPr>
            <a: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1170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414"/>
                </a:solidFill>
                <a:latin typeface="Calibri"/>
              </a:defRPr>
            </a:pPr>
            <a:r>
              <a:rPr b="1">
                <a:solidFill>
                  <a:srgbClr val="43054E"/>
                </a:solidFill>
                <a:latin typeface="Aptos Display" panose="020B0004020202020204" pitchFamily="34" charset="0"/>
              </a:rPr>
              <a:t>O que guardar desta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589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DES/3DES: histórico/legado (chave/bloco limitantes)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AES: padrão moderno (cifra de bloco)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CBC e CTR exigem cuidado (IV/nonce + integridade)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GCM: AEAD — cifra + autentica (verifique TAG)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Próxima: distribuição de chaves e criptografia assimétrica</a:t>
            </a:r>
          </a:p>
        </p:txBody>
      </p:sp>
      <p:sp>
        <p:nvSpPr>
          <p:cNvPr id="7" name="CEUB Integrated - title marker">
            <a:extLst>
              <a:ext uri="{FF2B5EF4-FFF2-40B4-BE49-F238E27FC236}">
                <a16:creationId xmlns:a16="http://schemas.microsoft.com/office/drawing/2014/main" id="{BE75CDC2-2B26-74A9-DB40-9BB6C6972A91}"/>
              </a:ext>
            </a:extLst>
          </p:cNvPr>
          <p:cNvSpPr/>
          <p:nvPr/>
        </p:nvSpPr>
        <p:spPr>
          <a:xfrm>
            <a:off x="535305" y="848360"/>
            <a:ext cx="42863" cy="323850"/>
          </a:xfrm>
          <a:prstGeom prst="rect">
            <a:avLst/>
          </a:prstGeom>
          <a:gradFill flip="none" rotWithShape="1">
            <a:gsLst>
              <a:gs pos="0">
                <a:srgbClr val="EC008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EUB Integrated - top diagonal">
            <a:extLst>
              <a:ext uri="{FF2B5EF4-FFF2-40B4-BE49-F238E27FC236}">
                <a16:creationId xmlns:a16="http://schemas.microsoft.com/office/drawing/2014/main" id="{C33E93BF-6FEB-21D3-2D0F-F5458039DC13}"/>
              </a:ext>
            </a:extLst>
          </p:cNvPr>
          <p:cNvCxnSpPr/>
          <p:nvPr/>
        </p:nvCxnSpPr>
        <p:spPr>
          <a:xfrm>
            <a:off x="7353300" y="0"/>
            <a:ext cx="352425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EUB Integrated - top horizontal">
            <a:extLst>
              <a:ext uri="{FF2B5EF4-FFF2-40B4-BE49-F238E27FC236}">
                <a16:creationId xmlns:a16="http://schemas.microsoft.com/office/drawing/2014/main" id="{C711C400-5561-7AEA-B599-43C8D65F7325}"/>
              </a:ext>
            </a:extLst>
          </p:cNvPr>
          <p:cNvCxnSpPr/>
          <p:nvPr/>
        </p:nvCxnSpPr>
        <p:spPr>
          <a:xfrm>
            <a:off x="7705725" y="390525"/>
            <a:ext cx="1371600" cy="0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EUB Integrated - top vertical">
            <a:extLst>
              <a:ext uri="{FF2B5EF4-FFF2-40B4-BE49-F238E27FC236}">
                <a16:creationId xmlns:a16="http://schemas.microsoft.com/office/drawing/2014/main" id="{1E418CFE-559E-AE1E-39C7-13C33D4F8E4A}"/>
              </a:ext>
            </a:extLst>
          </p:cNvPr>
          <p:cNvCxnSpPr/>
          <p:nvPr/>
        </p:nvCxnSpPr>
        <p:spPr>
          <a:xfrm flipV="1">
            <a:off x="9077325" y="0"/>
            <a:ext cx="0" cy="390525"/>
          </a:xfrm>
          <a:prstGeom prst="line">
            <a:avLst/>
          </a:prstGeom>
          <a:ln w="23813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bottom diagonal">
            <a:extLst>
              <a:ext uri="{FF2B5EF4-FFF2-40B4-BE49-F238E27FC236}">
                <a16:creationId xmlns:a16="http://schemas.microsoft.com/office/drawing/2014/main" id="{1A52DF9E-8A6F-C231-4AAB-23443EF8AA51}"/>
              </a:ext>
            </a:extLst>
          </p:cNvPr>
          <p:cNvCxnSpPr/>
          <p:nvPr/>
        </p:nvCxnSpPr>
        <p:spPr>
          <a:xfrm>
            <a:off x="0" y="6400800"/>
            <a:ext cx="352425" cy="352425"/>
          </a:xfrm>
          <a:prstGeom prst="line">
            <a:avLst/>
          </a:prstGeom>
          <a:ln w="20955">
            <a:solidFill>
              <a:srgbClr val="EC0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bottom horizontal">
            <a:extLst>
              <a:ext uri="{FF2B5EF4-FFF2-40B4-BE49-F238E27FC236}">
                <a16:creationId xmlns:a16="http://schemas.microsoft.com/office/drawing/2014/main" id="{53D21D27-46D7-BF45-62B2-213E85625818}"/>
              </a:ext>
            </a:extLst>
          </p:cNvPr>
          <p:cNvCxnSpPr/>
          <p:nvPr/>
        </p:nvCxnSpPr>
        <p:spPr>
          <a:xfrm>
            <a:off x="352425" y="6753225"/>
            <a:ext cx="8791575" cy="0"/>
          </a:xfrm>
          <a:prstGeom prst="line">
            <a:avLst/>
          </a:prstGeom>
          <a:ln w="13335">
            <a:solidFill>
              <a:srgbClr val="430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CEUB Integrated - logo" descr="CEUB Educação Superior">
            <a:extLst>
              <a:ext uri="{FF2B5EF4-FFF2-40B4-BE49-F238E27FC236}">
                <a16:creationId xmlns:a16="http://schemas.microsoft.com/office/drawing/2014/main" id="{1E82BC59-CFB9-65AA-B5BF-2A5D400F473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47625"/>
            <a:ext cx="895350" cy="4091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1294</Words>
  <Application>Microsoft Office PowerPoint</Application>
  <PresentationFormat>Apresentação na tela (4:3)</PresentationFormat>
  <Paragraphs>187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Joao Vitor de Sa Hauck</cp:lastModifiedBy>
  <cp:revision>11</cp:revision>
  <dcterms:created xsi:type="dcterms:W3CDTF">2013-01-27T09:14:16Z</dcterms:created>
  <dcterms:modified xsi:type="dcterms:W3CDTF">2026-07-25T04:03:46Z</dcterms:modified>
  <cp:category/>
</cp:coreProperties>
</file>